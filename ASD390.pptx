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3" r:id="rId20"/>
    <p:sldId id="284" r:id="rId21"/>
    <p:sldId id="285" r:id="rId22"/>
    <p:sldId id="282" r:id="rId23"/>
    <p:sldId id="286" r:id="rId24"/>
    <p:sldId id="287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2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3F823B-CF0D-4711-A695-BCE0468FDCB7}" v="15" dt="2026-03-02T23:38:59.1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57" autoAdjust="0"/>
    <p:restoredTop sz="94660"/>
  </p:normalViewPr>
  <p:slideViewPr>
    <p:cSldViewPr snapToGrid="0">
      <p:cViewPr varScale="1">
        <p:scale>
          <a:sx n="78" d="100"/>
          <a:sy n="78" d="100"/>
        </p:scale>
        <p:origin x="9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chie Mittal" userId="eac599dd7b184fd7" providerId="LiveId" clId="{819E6800-69E6-4053-883E-D6CD4879FB4D}"/>
    <pc:docChg chg="custSel addSld modSld">
      <pc:chgData name="Archie Mittal" userId="eac599dd7b184fd7" providerId="LiveId" clId="{819E6800-69E6-4053-883E-D6CD4879FB4D}" dt="2026-03-02T23:39:08.536" v="149" actId="14100"/>
      <pc:docMkLst>
        <pc:docMk/>
      </pc:docMkLst>
      <pc:sldChg chg="modSp mod">
        <pc:chgData name="Archie Mittal" userId="eac599dd7b184fd7" providerId="LiveId" clId="{819E6800-69E6-4053-883E-D6CD4879FB4D}" dt="2026-03-02T23:31:53.930" v="2" actId="1076"/>
        <pc:sldMkLst>
          <pc:docMk/>
          <pc:sldMk cId="1552988893" sldId="293"/>
        </pc:sldMkLst>
        <pc:spChg chg="mod">
          <ac:chgData name="Archie Mittal" userId="eac599dd7b184fd7" providerId="LiveId" clId="{819E6800-69E6-4053-883E-D6CD4879FB4D}" dt="2026-03-02T23:31:48.994" v="1" actId="27636"/>
          <ac:spMkLst>
            <pc:docMk/>
            <pc:sldMk cId="1552988893" sldId="293"/>
            <ac:spMk id="3" creationId="{77160250-C27B-0A8A-EF43-CD30C56AE76B}"/>
          </ac:spMkLst>
        </pc:spChg>
        <pc:picChg chg="mod">
          <ac:chgData name="Archie Mittal" userId="eac599dd7b184fd7" providerId="LiveId" clId="{819E6800-69E6-4053-883E-D6CD4879FB4D}" dt="2026-03-02T23:31:53.930" v="2" actId="1076"/>
          <ac:picMkLst>
            <pc:docMk/>
            <pc:sldMk cId="1552988893" sldId="293"/>
            <ac:picMk id="5" creationId="{1ADE5AE2-E4C3-ECED-E293-8CC805564A88}"/>
          </ac:picMkLst>
        </pc:picChg>
      </pc:sldChg>
      <pc:sldChg chg="addSp delSp modSp new mod">
        <pc:chgData name="Archie Mittal" userId="eac599dd7b184fd7" providerId="LiveId" clId="{819E6800-69E6-4053-883E-D6CD4879FB4D}" dt="2026-03-02T23:33:32.038" v="30" actId="14100"/>
        <pc:sldMkLst>
          <pc:docMk/>
          <pc:sldMk cId="887942875" sldId="294"/>
        </pc:sldMkLst>
        <pc:spChg chg="mod">
          <ac:chgData name="Archie Mittal" userId="eac599dd7b184fd7" providerId="LiveId" clId="{819E6800-69E6-4053-883E-D6CD4879FB4D}" dt="2026-03-02T23:32:20.318" v="21" actId="20577"/>
          <ac:spMkLst>
            <pc:docMk/>
            <pc:sldMk cId="887942875" sldId="294"/>
            <ac:spMk id="2" creationId="{2F6D43AF-7E1F-A441-171F-42734546811E}"/>
          </ac:spMkLst>
        </pc:spChg>
        <pc:spChg chg="del">
          <ac:chgData name="Archie Mittal" userId="eac599dd7b184fd7" providerId="LiveId" clId="{819E6800-69E6-4053-883E-D6CD4879FB4D}" dt="2026-03-02T23:32:30.008" v="22" actId="931"/>
          <ac:spMkLst>
            <pc:docMk/>
            <pc:sldMk cId="887942875" sldId="294"/>
            <ac:spMk id="3" creationId="{9F2CDBC9-E314-0E10-7049-B5109525E44D}"/>
          </ac:spMkLst>
        </pc:spChg>
        <pc:spChg chg="add mod">
          <ac:chgData name="Archie Mittal" userId="eac599dd7b184fd7" providerId="LiveId" clId="{819E6800-69E6-4053-883E-D6CD4879FB4D}" dt="2026-03-02T23:33:16.274" v="28" actId="14100"/>
          <ac:spMkLst>
            <pc:docMk/>
            <pc:sldMk cId="887942875" sldId="294"/>
            <ac:spMk id="6" creationId="{4B9EE0FB-7881-5254-529F-F1807029DD1E}"/>
          </ac:spMkLst>
        </pc:spChg>
        <pc:picChg chg="add mod ord">
          <ac:chgData name="Archie Mittal" userId="eac599dd7b184fd7" providerId="LiveId" clId="{819E6800-69E6-4053-883E-D6CD4879FB4D}" dt="2026-03-02T23:33:32.038" v="30" actId="14100"/>
          <ac:picMkLst>
            <pc:docMk/>
            <pc:sldMk cId="887942875" sldId="294"/>
            <ac:picMk id="5" creationId="{C6AB0E30-46F9-2EB9-1C67-52920F8F37AE}"/>
          </ac:picMkLst>
        </pc:picChg>
      </pc:sldChg>
      <pc:sldChg chg="addSp delSp modSp new mod">
        <pc:chgData name="Archie Mittal" userId="eac599dd7b184fd7" providerId="LiveId" clId="{819E6800-69E6-4053-883E-D6CD4879FB4D}" dt="2026-03-02T23:34:43.744" v="60" actId="14100"/>
        <pc:sldMkLst>
          <pc:docMk/>
          <pc:sldMk cId="2608061444" sldId="295"/>
        </pc:sldMkLst>
        <pc:spChg chg="mod">
          <ac:chgData name="Archie Mittal" userId="eac599dd7b184fd7" providerId="LiveId" clId="{819E6800-69E6-4053-883E-D6CD4879FB4D}" dt="2026-03-02T23:33:51.445" v="53" actId="20577"/>
          <ac:spMkLst>
            <pc:docMk/>
            <pc:sldMk cId="2608061444" sldId="295"/>
            <ac:spMk id="2" creationId="{237AC34A-28CC-3CBF-3E46-C3A3D8450C0A}"/>
          </ac:spMkLst>
        </pc:spChg>
        <pc:spChg chg="del">
          <ac:chgData name="Archie Mittal" userId="eac599dd7b184fd7" providerId="LiveId" clId="{819E6800-69E6-4053-883E-D6CD4879FB4D}" dt="2026-03-02T23:34:01.491" v="54" actId="931"/>
          <ac:spMkLst>
            <pc:docMk/>
            <pc:sldMk cId="2608061444" sldId="295"/>
            <ac:spMk id="3" creationId="{EE346AE6-AE2C-EC72-C383-6B3BA7C1D158}"/>
          </ac:spMkLst>
        </pc:spChg>
        <pc:spChg chg="add mod">
          <ac:chgData name="Archie Mittal" userId="eac599dd7b184fd7" providerId="LiveId" clId="{819E6800-69E6-4053-883E-D6CD4879FB4D}" dt="2026-03-02T23:34:33.686" v="59" actId="14100"/>
          <ac:spMkLst>
            <pc:docMk/>
            <pc:sldMk cId="2608061444" sldId="295"/>
            <ac:spMk id="6" creationId="{11E3E130-2FD2-61F5-008D-4ADC12C5BBC9}"/>
          </ac:spMkLst>
        </pc:spChg>
        <pc:picChg chg="add mod ord">
          <ac:chgData name="Archie Mittal" userId="eac599dd7b184fd7" providerId="LiveId" clId="{819E6800-69E6-4053-883E-D6CD4879FB4D}" dt="2026-03-02T23:34:43.744" v="60" actId="14100"/>
          <ac:picMkLst>
            <pc:docMk/>
            <pc:sldMk cId="2608061444" sldId="295"/>
            <ac:picMk id="5" creationId="{16E8BCD7-7F6F-C51D-4EE4-93BC2A358D35}"/>
          </ac:picMkLst>
        </pc:picChg>
      </pc:sldChg>
      <pc:sldChg chg="addSp delSp modSp new mod">
        <pc:chgData name="Archie Mittal" userId="eac599dd7b184fd7" providerId="LiveId" clId="{819E6800-69E6-4053-883E-D6CD4879FB4D}" dt="2026-03-02T23:35:52.696" v="85" actId="14100"/>
        <pc:sldMkLst>
          <pc:docMk/>
          <pc:sldMk cId="2478733032" sldId="296"/>
        </pc:sldMkLst>
        <pc:spChg chg="mod">
          <ac:chgData name="Archie Mittal" userId="eac599dd7b184fd7" providerId="LiveId" clId="{819E6800-69E6-4053-883E-D6CD4879FB4D}" dt="2026-03-02T23:34:59.544" v="75" actId="20577"/>
          <ac:spMkLst>
            <pc:docMk/>
            <pc:sldMk cId="2478733032" sldId="296"/>
            <ac:spMk id="2" creationId="{A7E07902-564F-D77F-EFC4-55DD03561B14}"/>
          </ac:spMkLst>
        </pc:spChg>
        <pc:spChg chg="del">
          <ac:chgData name="Archie Mittal" userId="eac599dd7b184fd7" providerId="LiveId" clId="{819E6800-69E6-4053-883E-D6CD4879FB4D}" dt="2026-03-02T23:35:09.012" v="76" actId="931"/>
          <ac:spMkLst>
            <pc:docMk/>
            <pc:sldMk cId="2478733032" sldId="296"/>
            <ac:spMk id="3" creationId="{17110C20-D1DB-0E94-08C0-2DB033C293B0}"/>
          </ac:spMkLst>
        </pc:spChg>
        <pc:spChg chg="add mod">
          <ac:chgData name="Archie Mittal" userId="eac599dd7b184fd7" providerId="LiveId" clId="{819E6800-69E6-4053-883E-D6CD4879FB4D}" dt="2026-03-02T23:35:47.649" v="84" actId="14100"/>
          <ac:spMkLst>
            <pc:docMk/>
            <pc:sldMk cId="2478733032" sldId="296"/>
            <ac:spMk id="6" creationId="{D450B47E-0307-B2CF-58BD-45D77B3B104A}"/>
          </ac:spMkLst>
        </pc:spChg>
        <pc:picChg chg="add mod ord">
          <ac:chgData name="Archie Mittal" userId="eac599dd7b184fd7" providerId="LiveId" clId="{819E6800-69E6-4053-883E-D6CD4879FB4D}" dt="2026-03-02T23:35:52.696" v="85" actId="14100"/>
          <ac:picMkLst>
            <pc:docMk/>
            <pc:sldMk cId="2478733032" sldId="296"/>
            <ac:picMk id="5" creationId="{EB530F03-D18B-1479-84C1-6AEBB6D1E733}"/>
          </ac:picMkLst>
        </pc:picChg>
      </pc:sldChg>
      <pc:sldChg chg="modSp new mod">
        <pc:chgData name="Archie Mittal" userId="eac599dd7b184fd7" providerId="LiveId" clId="{819E6800-69E6-4053-883E-D6CD4879FB4D}" dt="2026-03-02T23:37:15.719" v="136" actId="5793"/>
        <pc:sldMkLst>
          <pc:docMk/>
          <pc:sldMk cId="2911892149" sldId="297"/>
        </pc:sldMkLst>
        <pc:spChg chg="mod">
          <ac:chgData name="Archie Mittal" userId="eac599dd7b184fd7" providerId="LiveId" clId="{819E6800-69E6-4053-883E-D6CD4879FB4D}" dt="2026-03-02T23:36:13.053" v="124" actId="20577"/>
          <ac:spMkLst>
            <pc:docMk/>
            <pc:sldMk cId="2911892149" sldId="297"/>
            <ac:spMk id="2" creationId="{4A3AE1CE-EA88-64DF-7A0C-DBE442527ECA}"/>
          </ac:spMkLst>
        </pc:spChg>
        <pc:spChg chg="mod">
          <ac:chgData name="Archie Mittal" userId="eac599dd7b184fd7" providerId="LiveId" clId="{819E6800-69E6-4053-883E-D6CD4879FB4D}" dt="2026-03-02T23:37:15.719" v="136" actId="5793"/>
          <ac:spMkLst>
            <pc:docMk/>
            <pc:sldMk cId="2911892149" sldId="297"/>
            <ac:spMk id="3" creationId="{5443E9F8-3603-4C6D-3331-89281AE0760F}"/>
          </ac:spMkLst>
        </pc:spChg>
      </pc:sldChg>
      <pc:sldChg chg="modSp new mod">
        <pc:chgData name="Archie Mittal" userId="eac599dd7b184fd7" providerId="LiveId" clId="{819E6800-69E6-4053-883E-D6CD4879FB4D}" dt="2026-03-02T23:39:08.536" v="149" actId="14100"/>
        <pc:sldMkLst>
          <pc:docMk/>
          <pc:sldMk cId="2975391364" sldId="298"/>
        </pc:sldMkLst>
        <pc:spChg chg="mod">
          <ac:chgData name="Archie Mittal" userId="eac599dd7b184fd7" providerId="LiveId" clId="{819E6800-69E6-4053-883E-D6CD4879FB4D}" dt="2026-03-02T23:38:35.246" v="138"/>
          <ac:spMkLst>
            <pc:docMk/>
            <pc:sldMk cId="2975391364" sldId="298"/>
            <ac:spMk id="2" creationId="{26E5FA18-7F99-5FDD-7EEA-FA57336CF6C8}"/>
          </ac:spMkLst>
        </pc:spChg>
        <pc:spChg chg="mod">
          <ac:chgData name="Archie Mittal" userId="eac599dd7b184fd7" providerId="LiveId" clId="{819E6800-69E6-4053-883E-D6CD4879FB4D}" dt="2026-03-02T23:39:08.536" v="149" actId="14100"/>
          <ac:spMkLst>
            <pc:docMk/>
            <pc:sldMk cId="2975391364" sldId="298"/>
            <ac:spMk id="3" creationId="{3794759C-7C11-67D7-9FF9-E1A4FA67A7B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A81E6F-6908-4177-ADDD-A3E893B7813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76041F6-CF0E-4D64-9B02-64B6CFFD2FB1}">
      <dgm:prSet/>
      <dgm:spPr/>
      <dgm:t>
        <a:bodyPr/>
        <a:lstStyle/>
        <a:p>
          <a:r>
            <a:rPr lang="en-US" b="0" i="0" baseline="0"/>
            <a:t>Jan: Very high PM₂.₅ — peak winter pollution</a:t>
          </a:r>
          <a:endParaRPr lang="en-IN"/>
        </a:p>
      </dgm:t>
    </dgm:pt>
    <dgm:pt modelId="{1F579D19-7A8D-459E-97CC-E94EBDA134D9}" type="parTrans" cxnId="{143A0343-4695-4204-B2D7-51B29DDB6FB7}">
      <dgm:prSet/>
      <dgm:spPr/>
      <dgm:t>
        <a:bodyPr/>
        <a:lstStyle/>
        <a:p>
          <a:endParaRPr lang="en-IN"/>
        </a:p>
      </dgm:t>
    </dgm:pt>
    <dgm:pt modelId="{0EDB751E-710B-4355-BB85-01CAFD53216F}" type="sibTrans" cxnId="{143A0343-4695-4204-B2D7-51B29DDB6FB7}">
      <dgm:prSet/>
      <dgm:spPr/>
      <dgm:t>
        <a:bodyPr/>
        <a:lstStyle/>
        <a:p>
          <a:endParaRPr lang="en-IN"/>
        </a:p>
      </dgm:t>
    </dgm:pt>
    <dgm:pt modelId="{39A586C7-CE7B-4A5C-8B5E-0EB9013B9246}">
      <dgm:prSet/>
      <dgm:spPr/>
      <dgm:t>
        <a:bodyPr/>
        <a:lstStyle/>
        <a:p>
          <a:r>
            <a:rPr lang="en-US" b="0" i="0" baseline="0"/>
            <a:t>Feb–Mar: Declining PM₂.₅ — improved ventilation</a:t>
          </a:r>
          <a:endParaRPr lang="en-IN"/>
        </a:p>
      </dgm:t>
    </dgm:pt>
    <dgm:pt modelId="{5A686821-B5AD-428C-A8A0-669AA2ACE383}" type="parTrans" cxnId="{7D210908-8310-4DC7-B725-B1097BCAADA8}">
      <dgm:prSet/>
      <dgm:spPr/>
      <dgm:t>
        <a:bodyPr/>
        <a:lstStyle/>
        <a:p>
          <a:endParaRPr lang="en-IN"/>
        </a:p>
      </dgm:t>
    </dgm:pt>
    <dgm:pt modelId="{9876F0B3-C5A1-4E5B-AD3A-96448AFAE691}" type="sibTrans" cxnId="{7D210908-8310-4DC7-B725-B1097BCAADA8}">
      <dgm:prSet/>
      <dgm:spPr/>
      <dgm:t>
        <a:bodyPr/>
        <a:lstStyle/>
        <a:p>
          <a:endParaRPr lang="en-IN"/>
        </a:p>
      </dgm:t>
    </dgm:pt>
    <dgm:pt modelId="{E7590FD0-9927-4750-8918-B9C0ED99C03B}">
      <dgm:prSet/>
      <dgm:spPr/>
      <dgm:t>
        <a:bodyPr/>
        <a:lstStyle/>
        <a:p>
          <a:r>
            <a:rPr lang="en-US" b="0" i="0" baseline="0"/>
            <a:t>Apr–May: Moderate PM₂.₅ — dust and enhanced mixing</a:t>
          </a:r>
          <a:endParaRPr lang="en-IN"/>
        </a:p>
      </dgm:t>
    </dgm:pt>
    <dgm:pt modelId="{B048B68D-0965-4983-A71E-15C0189AE087}" type="parTrans" cxnId="{1A415EA4-EEA8-4056-A608-690416AB24ED}">
      <dgm:prSet/>
      <dgm:spPr/>
      <dgm:t>
        <a:bodyPr/>
        <a:lstStyle/>
        <a:p>
          <a:endParaRPr lang="en-IN"/>
        </a:p>
      </dgm:t>
    </dgm:pt>
    <dgm:pt modelId="{A248A317-D3C4-4815-B9E2-1B692E33C17C}" type="sibTrans" cxnId="{1A415EA4-EEA8-4056-A608-690416AB24ED}">
      <dgm:prSet/>
      <dgm:spPr/>
      <dgm:t>
        <a:bodyPr/>
        <a:lstStyle/>
        <a:p>
          <a:endParaRPr lang="en-IN"/>
        </a:p>
      </dgm:t>
    </dgm:pt>
    <dgm:pt modelId="{71E5AEBA-07A8-4F50-BC1A-D1FD73E0401F}">
      <dgm:prSet/>
      <dgm:spPr/>
      <dgm:t>
        <a:bodyPr/>
        <a:lstStyle/>
        <a:p>
          <a:r>
            <a:rPr lang="en-US" b="0" i="0" baseline="0"/>
            <a:t>Jun: Drop in PM₂.₅ — onset of pre-monsoon rainfall</a:t>
          </a:r>
          <a:endParaRPr lang="en-IN"/>
        </a:p>
      </dgm:t>
    </dgm:pt>
    <dgm:pt modelId="{B6E3B5C5-3056-4F82-8D5F-F5301BE1452E}" type="parTrans" cxnId="{CAD03A08-FCB9-4A3E-9CF7-514D97D0D5A4}">
      <dgm:prSet/>
      <dgm:spPr/>
      <dgm:t>
        <a:bodyPr/>
        <a:lstStyle/>
        <a:p>
          <a:endParaRPr lang="en-IN"/>
        </a:p>
      </dgm:t>
    </dgm:pt>
    <dgm:pt modelId="{6CB0DF84-F66B-49E7-9F21-DADC76632EA4}" type="sibTrans" cxnId="{CAD03A08-FCB9-4A3E-9CF7-514D97D0D5A4}">
      <dgm:prSet/>
      <dgm:spPr/>
      <dgm:t>
        <a:bodyPr/>
        <a:lstStyle/>
        <a:p>
          <a:endParaRPr lang="en-IN"/>
        </a:p>
      </dgm:t>
    </dgm:pt>
    <dgm:pt modelId="{CFA67354-7066-47FD-9840-0F476A6E2364}">
      <dgm:prSet/>
      <dgm:spPr/>
      <dgm:t>
        <a:bodyPr/>
        <a:lstStyle/>
        <a:p>
          <a:r>
            <a:rPr lang="en-US" b="0" i="0" baseline="0"/>
            <a:t>Jul–Aug: Lowest PM₂.₅ — monsoon washout</a:t>
          </a:r>
          <a:endParaRPr lang="en-IN"/>
        </a:p>
      </dgm:t>
    </dgm:pt>
    <dgm:pt modelId="{09888B2D-A32F-43E6-8170-1E7839B5A21E}" type="parTrans" cxnId="{F3A0DBE8-83D4-45D8-B7AD-28E5FE54174C}">
      <dgm:prSet/>
      <dgm:spPr/>
      <dgm:t>
        <a:bodyPr/>
        <a:lstStyle/>
        <a:p>
          <a:endParaRPr lang="en-IN"/>
        </a:p>
      </dgm:t>
    </dgm:pt>
    <dgm:pt modelId="{3C745197-FE82-4D53-898E-DE750BBCCEC0}" type="sibTrans" cxnId="{F3A0DBE8-83D4-45D8-B7AD-28E5FE54174C}">
      <dgm:prSet/>
      <dgm:spPr/>
      <dgm:t>
        <a:bodyPr/>
        <a:lstStyle/>
        <a:p>
          <a:endParaRPr lang="en-IN"/>
        </a:p>
      </dgm:t>
    </dgm:pt>
    <dgm:pt modelId="{3D0DB1DD-2AC6-4F7F-8072-F4F4DA7E59A4}">
      <dgm:prSet/>
      <dgm:spPr/>
      <dgm:t>
        <a:bodyPr/>
        <a:lstStyle/>
        <a:p>
          <a:r>
            <a:rPr lang="en-US" b="0" i="0" baseline="0"/>
            <a:t>Sep: Slight increase — monsoon withdrawal</a:t>
          </a:r>
          <a:endParaRPr lang="en-IN"/>
        </a:p>
      </dgm:t>
    </dgm:pt>
    <dgm:pt modelId="{545432E6-CEBF-4434-A795-09868CCB7CB9}" type="parTrans" cxnId="{E55F98CD-5826-467F-9EE5-E132D5844FE0}">
      <dgm:prSet/>
      <dgm:spPr/>
      <dgm:t>
        <a:bodyPr/>
        <a:lstStyle/>
        <a:p>
          <a:endParaRPr lang="en-IN"/>
        </a:p>
      </dgm:t>
    </dgm:pt>
    <dgm:pt modelId="{D81C71FA-A85C-4256-868F-31BCED087A1A}" type="sibTrans" cxnId="{E55F98CD-5826-467F-9EE5-E132D5844FE0}">
      <dgm:prSet/>
      <dgm:spPr/>
      <dgm:t>
        <a:bodyPr/>
        <a:lstStyle/>
        <a:p>
          <a:endParaRPr lang="en-IN"/>
        </a:p>
      </dgm:t>
    </dgm:pt>
    <dgm:pt modelId="{259CF7C9-946E-45F2-824E-0E7DEF5C6C61}">
      <dgm:prSet/>
      <dgm:spPr/>
      <dgm:t>
        <a:bodyPr/>
        <a:lstStyle/>
        <a:p>
          <a:r>
            <a:rPr lang="en-US" b="0" i="0" baseline="0"/>
            <a:t>Oct: Sharp rise — post-monsoon onset</a:t>
          </a:r>
          <a:endParaRPr lang="en-IN"/>
        </a:p>
      </dgm:t>
    </dgm:pt>
    <dgm:pt modelId="{CDC74D44-BDE5-4362-83DD-00EB365EE36A}" type="parTrans" cxnId="{C9BC471C-0C67-43B4-94FA-FFA50FF1CE15}">
      <dgm:prSet/>
      <dgm:spPr/>
      <dgm:t>
        <a:bodyPr/>
        <a:lstStyle/>
        <a:p>
          <a:endParaRPr lang="en-IN"/>
        </a:p>
      </dgm:t>
    </dgm:pt>
    <dgm:pt modelId="{202D512F-0860-4634-9170-483E4EAFB7B9}" type="sibTrans" cxnId="{C9BC471C-0C67-43B4-94FA-FFA50FF1CE15}">
      <dgm:prSet/>
      <dgm:spPr/>
      <dgm:t>
        <a:bodyPr/>
        <a:lstStyle/>
        <a:p>
          <a:endParaRPr lang="en-IN"/>
        </a:p>
      </dgm:t>
    </dgm:pt>
    <dgm:pt modelId="{90F344CC-5309-4798-8F67-1848392A7574}">
      <dgm:prSet/>
      <dgm:spPr/>
      <dgm:t>
        <a:bodyPr/>
        <a:lstStyle/>
        <a:p>
          <a:r>
            <a:rPr lang="en-US" b="0" i="0" baseline="0"/>
            <a:t>Nov: Maximum PM₂.₅ — stubble burning and stagnation</a:t>
          </a:r>
          <a:endParaRPr lang="en-IN"/>
        </a:p>
      </dgm:t>
    </dgm:pt>
    <dgm:pt modelId="{1145E4C3-113F-4088-A171-B9C012389A6B}" type="parTrans" cxnId="{325DD91B-884D-4EF4-BCBF-A32ECD936114}">
      <dgm:prSet/>
      <dgm:spPr/>
      <dgm:t>
        <a:bodyPr/>
        <a:lstStyle/>
        <a:p>
          <a:endParaRPr lang="en-IN"/>
        </a:p>
      </dgm:t>
    </dgm:pt>
    <dgm:pt modelId="{7C6D9B7E-783A-4398-9C76-8A53C0ABCFD5}" type="sibTrans" cxnId="{325DD91B-884D-4EF4-BCBF-A32ECD936114}">
      <dgm:prSet/>
      <dgm:spPr/>
      <dgm:t>
        <a:bodyPr/>
        <a:lstStyle/>
        <a:p>
          <a:endParaRPr lang="en-IN"/>
        </a:p>
      </dgm:t>
    </dgm:pt>
    <dgm:pt modelId="{AB2F492B-C1A0-46BD-9ABC-E7C66C93DE4D}">
      <dgm:prSet/>
      <dgm:spPr/>
      <dgm:t>
        <a:bodyPr/>
        <a:lstStyle/>
        <a:p>
          <a:r>
            <a:rPr lang="en-US" b="0" i="0" baseline="0"/>
            <a:t>Dec: Very high PM₂.₅ — winter buildup</a:t>
          </a:r>
          <a:endParaRPr lang="en-IN"/>
        </a:p>
      </dgm:t>
    </dgm:pt>
    <dgm:pt modelId="{51986621-F0B4-4AE9-8182-2FF2E309DE13}" type="parTrans" cxnId="{C12C3FC0-347B-4931-9FEA-92E90BF85A62}">
      <dgm:prSet/>
      <dgm:spPr/>
      <dgm:t>
        <a:bodyPr/>
        <a:lstStyle/>
        <a:p>
          <a:endParaRPr lang="en-IN"/>
        </a:p>
      </dgm:t>
    </dgm:pt>
    <dgm:pt modelId="{B9327DEC-1328-422A-93DB-85E3B78D3997}" type="sibTrans" cxnId="{C12C3FC0-347B-4931-9FEA-92E90BF85A62}">
      <dgm:prSet/>
      <dgm:spPr/>
      <dgm:t>
        <a:bodyPr/>
        <a:lstStyle/>
        <a:p>
          <a:endParaRPr lang="en-IN"/>
        </a:p>
      </dgm:t>
    </dgm:pt>
    <dgm:pt modelId="{19F26E16-3966-4F15-B033-0A769D543AA1}" type="pres">
      <dgm:prSet presAssocID="{56A81E6F-6908-4177-ADDD-A3E893B78138}" presName="linear" presStyleCnt="0">
        <dgm:presLayoutVars>
          <dgm:animLvl val="lvl"/>
          <dgm:resizeHandles val="exact"/>
        </dgm:presLayoutVars>
      </dgm:prSet>
      <dgm:spPr/>
    </dgm:pt>
    <dgm:pt modelId="{F390BB6D-C426-492B-97B1-7791DE1AFEF2}" type="pres">
      <dgm:prSet presAssocID="{176041F6-CF0E-4D64-9B02-64B6CFFD2FB1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AB37B990-C4CF-4652-818B-2F3EE09BE3BC}" type="pres">
      <dgm:prSet presAssocID="{0EDB751E-710B-4355-BB85-01CAFD53216F}" presName="spacer" presStyleCnt="0"/>
      <dgm:spPr/>
    </dgm:pt>
    <dgm:pt modelId="{7D31C02D-D240-4F11-A1BB-B944B4B46B41}" type="pres">
      <dgm:prSet presAssocID="{39A586C7-CE7B-4A5C-8B5E-0EB9013B9246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028611EE-9B69-4046-AAA4-BDA660E8E410}" type="pres">
      <dgm:prSet presAssocID="{9876F0B3-C5A1-4E5B-AD3A-96448AFAE691}" presName="spacer" presStyleCnt="0"/>
      <dgm:spPr/>
    </dgm:pt>
    <dgm:pt modelId="{1CE27993-DE81-4EEA-B54B-CE41AEC38DAF}" type="pres">
      <dgm:prSet presAssocID="{E7590FD0-9927-4750-8918-B9C0ED99C03B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342152A2-7445-4231-938F-06E870E6DA32}" type="pres">
      <dgm:prSet presAssocID="{A248A317-D3C4-4815-B9E2-1B692E33C17C}" presName="spacer" presStyleCnt="0"/>
      <dgm:spPr/>
    </dgm:pt>
    <dgm:pt modelId="{88EBD7A2-DC86-4BB9-98B2-C4B800B745CA}" type="pres">
      <dgm:prSet presAssocID="{71E5AEBA-07A8-4F50-BC1A-D1FD73E0401F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9BDFC0DF-8AA6-45AF-BCBF-B1DA7D20BD51}" type="pres">
      <dgm:prSet presAssocID="{6CB0DF84-F66B-49E7-9F21-DADC76632EA4}" presName="spacer" presStyleCnt="0"/>
      <dgm:spPr/>
    </dgm:pt>
    <dgm:pt modelId="{F9F9D557-F327-438D-9364-1FD85978B336}" type="pres">
      <dgm:prSet presAssocID="{CFA67354-7066-47FD-9840-0F476A6E2364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E99373A2-F93A-451A-ACFC-BE212FD80F5C}" type="pres">
      <dgm:prSet presAssocID="{3C745197-FE82-4D53-898E-DE750BBCCEC0}" presName="spacer" presStyleCnt="0"/>
      <dgm:spPr/>
    </dgm:pt>
    <dgm:pt modelId="{4B4DBEC1-F5D5-489C-91CE-5ECDEBC28FCE}" type="pres">
      <dgm:prSet presAssocID="{3D0DB1DD-2AC6-4F7F-8072-F4F4DA7E59A4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0CBD6774-A036-4175-BC01-F8C5E1225F97}" type="pres">
      <dgm:prSet presAssocID="{D81C71FA-A85C-4256-868F-31BCED087A1A}" presName="spacer" presStyleCnt="0"/>
      <dgm:spPr/>
    </dgm:pt>
    <dgm:pt modelId="{B1993D0C-8804-4330-9D46-C6F7FDAC6799}" type="pres">
      <dgm:prSet presAssocID="{259CF7C9-946E-45F2-824E-0E7DEF5C6C61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AC56178D-DD89-4863-9F38-1A4A2A856164}" type="pres">
      <dgm:prSet presAssocID="{202D512F-0860-4634-9170-483E4EAFB7B9}" presName="spacer" presStyleCnt="0"/>
      <dgm:spPr/>
    </dgm:pt>
    <dgm:pt modelId="{FEE86F93-03E5-4A1C-AD90-C90150924963}" type="pres">
      <dgm:prSet presAssocID="{90F344CC-5309-4798-8F67-1848392A7574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8FAEA3FB-D967-4F56-9517-9571BD0AC8D7}" type="pres">
      <dgm:prSet presAssocID="{7C6D9B7E-783A-4398-9C76-8A53C0ABCFD5}" presName="spacer" presStyleCnt="0"/>
      <dgm:spPr/>
    </dgm:pt>
    <dgm:pt modelId="{75C330AF-4FFB-4612-973F-B7C23C3F4302}" type="pres">
      <dgm:prSet presAssocID="{AB2F492B-C1A0-46BD-9ABC-E7C66C93DE4D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66A04704-F3E8-4C33-9433-33CD6014DFD1}" type="presOf" srcId="{56A81E6F-6908-4177-ADDD-A3E893B78138}" destId="{19F26E16-3966-4F15-B033-0A769D543AA1}" srcOrd="0" destOrd="0" presId="urn:microsoft.com/office/officeart/2005/8/layout/vList2"/>
    <dgm:cxn modelId="{7D210908-8310-4DC7-B725-B1097BCAADA8}" srcId="{56A81E6F-6908-4177-ADDD-A3E893B78138}" destId="{39A586C7-CE7B-4A5C-8B5E-0EB9013B9246}" srcOrd="1" destOrd="0" parTransId="{5A686821-B5AD-428C-A8A0-669AA2ACE383}" sibTransId="{9876F0B3-C5A1-4E5B-AD3A-96448AFAE691}"/>
    <dgm:cxn modelId="{CAD03A08-FCB9-4A3E-9CF7-514D97D0D5A4}" srcId="{56A81E6F-6908-4177-ADDD-A3E893B78138}" destId="{71E5AEBA-07A8-4F50-BC1A-D1FD73E0401F}" srcOrd="3" destOrd="0" parTransId="{B6E3B5C5-3056-4F82-8D5F-F5301BE1452E}" sibTransId="{6CB0DF84-F66B-49E7-9F21-DADC76632EA4}"/>
    <dgm:cxn modelId="{F29BF617-1CBD-40B1-8A42-1067A56D9F36}" type="presOf" srcId="{E7590FD0-9927-4750-8918-B9C0ED99C03B}" destId="{1CE27993-DE81-4EEA-B54B-CE41AEC38DAF}" srcOrd="0" destOrd="0" presId="urn:microsoft.com/office/officeart/2005/8/layout/vList2"/>
    <dgm:cxn modelId="{325DD91B-884D-4EF4-BCBF-A32ECD936114}" srcId="{56A81E6F-6908-4177-ADDD-A3E893B78138}" destId="{90F344CC-5309-4798-8F67-1848392A7574}" srcOrd="7" destOrd="0" parTransId="{1145E4C3-113F-4088-A171-B9C012389A6B}" sibTransId="{7C6D9B7E-783A-4398-9C76-8A53C0ABCFD5}"/>
    <dgm:cxn modelId="{C9BC471C-0C67-43B4-94FA-FFA50FF1CE15}" srcId="{56A81E6F-6908-4177-ADDD-A3E893B78138}" destId="{259CF7C9-946E-45F2-824E-0E7DEF5C6C61}" srcOrd="6" destOrd="0" parTransId="{CDC74D44-BDE5-4362-83DD-00EB365EE36A}" sibTransId="{202D512F-0860-4634-9170-483E4EAFB7B9}"/>
    <dgm:cxn modelId="{7386DE2D-BD35-498D-9748-AFA694E1725E}" type="presOf" srcId="{176041F6-CF0E-4D64-9B02-64B6CFFD2FB1}" destId="{F390BB6D-C426-492B-97B1-7791DE1AFEF2}" srcOrd="0" destOrd="0" presId="urn:microsoft.com/office/officeart/2005/8/layout/vList2"/>
    <dgm:cxn modelId="{6BB1C162-9454-4FF1-9517-7E8C7170C814}" type="presOf" srcId="{39A586C7-CE7B-4A5C-8B5E-0EB9013B9246}" destId="{7D31C02D-D240-4F11-A1BB-B944B4B46B41}" srcOrd="0" destOrd="0" presId="urn:microsoft.com/office/officeart/2005/8/layout/vList2"/>
    <dgm:cxn modelId="{143A0343-4695-4204-B2D7-51B29DDB6FB7}" srcId="{56A81E6F-6908-4177-ADDD-A3E893B78138}" destId="{176041F6-CF0E-4D64-9B02-64B6CFFD2FB1}" srcOrd="0" destOrd="0" parTransId="{1F579D19-7A8D-459E-97CC-E94EBDA134D9}" sibTransId="{0EDB751E-710B-4355-BB85-01CAFD53216F}"/>
    <dgm:cxn modelId="{8FBA2548-DF34-42DF-A0D1-4419BB406B0B}" type="presOf" srcId="{CFA67354-7066-47FD-9840-0F476A6E2364}" destId="{F9F9D557-F327-438D-9364-1FD85978B336}" srcOrd="0" destOrd="0" presId="urn:microsoft.com/office/officeart/2005/8/layout/vList2"/>
    <dgm:cxn modelId="{CEF35D7C-5241-47FF-A8CA-BF8454F0D827}" type="presOf" srcId="{3D0DB1DD-2AC6-4F7F-8072-F4F4DA7E59A4}" destId="{4B4DBEC1-F5D5-489C-91CE-5ECDEBC28FCE}" srcOrd="0" destOrd="0" presId="urn:microsoft.com/office/officeart/2005/8/layout/vList2"/>
    <dgm:cxn modelId="{FE3C4B93-B2DD-47A0-B0E7-CC0DE742F617}" type="presOf" srcId="{259CF7C9-946E-45F2-824E-0E7DEF5C6C61}" destId="{B1993D0C-8804-4330-9D46-C6F7FDAC6799}" srcOrd="0" destOrd="0" presId="urn:microsoft.com/office/officeart/2005/8/layout/vList2"/>
    <dgm:cxn modelId="{1A415EA4-EEA8-4056-A608-690416AB24ED}" srcId="{56A81E6F-6908-4177-ADDD-A3E893B78138}" destId="{E7590FD0-9927-4750-8918-B9C0ED99C03B}" srcOrd="2" destOrd="0" parTransId="{B048B68D-0965-4983-A71E-15C0189AE087}" sibTransId="{A248A317-D3C4-4815-B9E2-1B692E33C17C}"/>
    <dgm:cxn modelId="{5EAF7DA4-6176-4FB6-9BD6-4BC5C00A436A}" type="presOf" srcId="{AB2F492B-C1A0-46BD-9ABC-E7C66C93DE4D}" destId="{75C330AF-4FFB-4612-973F-B7C23C3F4302}" srcOrd="0" destOrd="0" presId="urn:microsoft.com/office/officeart/2005/8/layout/vList2"/>
    <dgm:cxn modelId="{C12C3FC0-347B-4931-9FEA-92E90BF85A62}" srcId="{56A81E6F-6908-4177-ADDD-A3E893B78138}" destId="{AB2F492B-C1A0-46BD-9ABC-E7C66C93DE4D}" srcOrd="8" destOrd="0" parTransId="{51986621-F0B4-4AE9-8182-2FF2E309DE13}" sibTransId="{B9327DEC-1328-422A-93DB-85E3B78D3997}"/>
    <dgm:cxn modelId="{E55F98CD-5826-467F-9EE5-E132D5844FE0}" srcId="{56A81E6F-6908-4177-ADDD-A3E893B78138}" destId="{3D0DB1DD-2AC6-4F7F-8072-F4F4DA7E59A4}" srcOrd="5" destOrd="0" parTransId="{545432E6-CEBF-4434-A795-09868CCB7CB9}" sibTransId="{D81C71FA-A85C-4256-868F-31BCED087A1A}"/>
    <dgm:cxn modelId="{E5699ED7-FC0A-4EFB-8E2D-A0603E9DB022}" type="presOf" srcId="{90F344CC-5309-4798-8F67-1848392A7574}" destId="{FEE86F93-03E5-4A1C-AD90-C90150924963}" srcOrd="0" destOrd="0" presId="urn:microsoft.com/office/officeart/2005/8/layout/vList2"/>
    <dgm:cxn modelId="{F3A0DBE8-83D4-45D8-B7AD-28E5FE54174C}" srcId="{56A81E6F-6908-4177-ADDD-A3E893B78138}" destId="{CFA67354-7066-47FD-9840-0F476A6E2364}" srcOrd="4" destOrd="0" parTransId="{09888B2D-A32F-43E6-8170-1E7839B5A21E}" sibTransId="{3C745197-FE82-4D53-898E-DE750BBCCEC0}"/>
    <dgm:cxn modelId="{316DF3FB-CFC8-4768-BA6D-27235A7D4BD5}" type="presOf" srcId="{71E5AEBA-07A8-4F50-BC1A-D1FD73E0401F}" destId="{88EBD7A2-DC86-4BB9-98B2-C4B800B745CA}" srcOrd="0" destOrd="0" presId="urn:microsoft.com/office/officeart/2005/8/layout/vList2"/>
    <dgm:cxn modelId="{29CC4FBB-DAF6-42F8-91A3-AD264FC42785}" type="presParOf" srcId="{19F26E16-3966-4F15-B033-0A769D543AA1}" destId="{F390BB6D-C426-492B-97B1-7791DE1AFEF2}" srcOrd="0" destOrd="0" presId="urn:microsoft.com/office/officeart/2005/8/layout/vList2"/>
    <dgm:cxn modelId="{ACE9A1E5-FC83-40AC-89B3-12EA46610DBB}" type="presParOf" srcId="{19F26E16-3966-4F15-B033-0A769D543AA1}" destId="{AB37B990-C4CF-4652-818B-2F3EE09BE3BC}" srcOrd="1" destOrd="0" presId="urn:microsoft.com/office/officeart/2005/8/layout/vList2"/>
    <dgm:cxn modelId="{8E828E9C-2461-49BE-B099-5CAD95BC6B02}" type="presParOf" srcId="{19F26E16-3966-4F15-B033-0A769D543AA1}" destId="{7D31C02D-D240-4F11-A1BB-B944B4B46B41}" srcOrd="2" destOrd="0" presId="urn:microsoft.com/office/officeart/2005/8/layout/vList2"/>
    <dgm:cxn modelId="{4FA6A517-C9C3-4C86-85CE-EC6EF85C73C2}" type="presParOf" srcId="{19F26E16-3966-4F15-B033-0A769D543AA1}" destId="{028611EE-9B69-4046-AAA4-BDA660E8E410}" srcOrd="3" destOrd="0" presId="urn:microsoft.com/office/officeart/2005/8/layout/vList2"/>
    <dgm:cxn modelId="{DC259E43-F01E-4442-A66F-095B5E00455A}" type="presParOf" srcId="{19F26E16-3966-4F15-B033-0A769D543AA1}" destId="{1CE27993-DE81-4EEA-B54B-CE41AEC38DAF}" srcOrd="4" destOrd="0" presId="urn:microsoft.com/office/officeart/2005/8/layout/vList2"/>
    <dgm:cxn modelId="{1C37576F-3588-4C91-8035-0CB8450E4EDF}" type="presParOf" srcId="{19F26E16-3966-4F15-B033-0A769D543AA1}" destId="{342152A2-7445-4231-938F-06E870E6DA32}" srcOrd="5" destOrd="0" presId="urn:microsoft.com/office/officeart/2005/8/layout/vList2"/>
    <dgm:cxn modelId="{8F2E450E-6FA7-4AD0-8F34-03B20EDECE89}" type="presParOf" srcId="{19F26E16-3966-4F15-B033-0A769D543AA1}" destId="{88EBD7A2-DC86-4BB9-98B2-C4B800B745CA}" srcOrd="6" destOrd="0" presId="urn:microsoft.com/office/officeart/2005/8/layout/vList2"/>
    <dgm:cxn modelId="{D47443BC-144A-4D6E-AADB-C1529900B01E}" type="presParOf" srcId="{19F26E16-3966-4F15-B033-0A769D543AA1}" destId="{9BDFC0DF-8AA6-45AF-BCBF-B1DA7D20BD51}" srcOrd="7" destOrd="0" presId="urn:microsoft.com/office/officeart/2005/8/layout/vList2"/>
    <dgm:cxn modelId="{638714F7-D462-4F9C-AE1D-DA5363192518}" type="presParOf" srcId="{19F26E16-3966-4F15-B033-0A769D543AA1}" destId="{F9F9D557-F327-438D-9364-1FD85978B336}" srcOrd="8" destOrd="0" presId="urn:microsoft.com/office/officeart/2005/8/layout/vList2"/>
    <dgm:cxn modelId="{01CE66D3-ECE1-463B-A605-9D1A967F3A4E}" type="presParOf" srcId="{19F26E16-3966-4F15-B033-0A769D543AA1}" destId="{E99373A2-F93A-451A-ACFC-BE212FD80F5C}" srcOrd="9" destOrd="0" presId="urn:microsoft.com/office/officeart/2005/8/layout/vList2"/>
    <dgm:cxn modelId="{B0FDFF6D-42F4-4277-8994-23A33472BDEE}" type="presParOf" srcId="{19F26E16-3966-4F15-B033-0A769D543AA1}" destId="{4B4DBEC1-F5D5-489C-91CE-5ECDEBC28FCE}" srcOrd="10" destOrd="0" presId="urn:microsoft.com/office/officeart/2005/8/layout/vList2"/>
    <dgm:cxn modelId="{9C5C4CD5-E20C-4141-9270-E991850C056B}" type="presParOf" srcId="{19F26E16-3966-4F15-B033-0A769D543AA1}" destId="{0CBD6774-A036-4175-BC01-F8C5E1225F97}" srcOrd="11" destOrd="0" presId="urn:microsoft.com/office/officeart/2005/8/layout/vList2"/>
    <dgm:cxn modelId="{88F08F86-28DD-42E5-B4E6-C6FD0AB7F73C}" type="presParOf" srcId="{19F26E16-3966-4F15-B033-0A769D543AA1}" destId="{B1993D0C-8804-4330-9D46-C6F7FDAC6799}" srcOrd="12" destOrd="0" presId="urn:microsoft.com/office/officeart/2005/8/layout/vList2"/>
    <dgm:cxn modelId="{3594BAE1-FD2F-4517-A2D9-884BC6B774A3}" type="presParOf" srcId="{19F26E16-3966-4F15-B033-0A769D543AA1}" destId="{AC56178D-DD89-4863-9F38-1A4A2A856164}" srcOrd="13" destOrd="0" presId="urn:microsoft.com/office/officeart/2005/8/layout/vList2"/>
    <dgm:cxn modelId="{83EEFE6C-E367-4435-B4BB-A0D58CBC2327}" type="presParOf" srcId="{19F26E16-3966-4F15-B033-0A769D543AA1}" destId="{FEE86F93-03E5-4A1C-AD90-C90150924963}" srcOrd="14" destOrd="0" presId="urn:microsoft.com/office/officeart/2005/8/layout/vList2"/>
    <dgm:cxn modelId="{B20A8AAF-2907-418A-B6F9-8F228356E8DF}" type="presParOf" srcId="{19F26E16-3966-4F15-B033-0A769D543AA1}" destId="{8FAEA3FB-D967-4F56-9517-9571BD0AC8D7}" srcOrd="15" destOrd="0" presId="urn:microsoft.com/office/officeart/2005/8/layout/vList2"/>
    <dgm:cxn modelId="{BFE93A8C-F9D5-49B7-B655-FD470FFA2CE3}" type="presParOf" srcId="{19F26E16-3966-4F15-B033-0A769D543AA1}" destId="{75C330AF-4FFB-4612-973F-B7C23C3F4302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90BB6D-C426-492B-97B1-7791DE1AFEF2}">
      <dsp:nvSpPr>
        <dsp:cNvPr id="0" name=""/>
        <dsp:cNvSpPr/>
      </dsp:nvSpPr>
      <dsp:spPr>
        <a:xfrm>
          <a:off x="0" y="57536"/>
          <a:ext cx="891540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Jan: Very high PM₂.₅ — peak winter pollution</a:t>
          </a:r>
          <a:endParaRPr lang="en-IN" sz="1500" kern="1200"/>
        </a:p>
      </dsp:txBody>
      <dsp:txXfrm>
        <a:off x="17991" y="75527"/>
        <a:ext cx="8879418" cy="332567"/>
      </dsp:txXfrm>
    </dsp:sp>
    <dsp:sp modelId="{7D31C02D-D240-4F11-A1BB-B944B4B46B41}">
      <dsp:nvSpPr>
        <dsp:cNvPr id="0" name=""/>
        <dsp:cNvSpPr/>
      </dsp:nvSpPr>
      <dsp:spPr>
        <a:xfrm>
          <a:off x="0" y="469286"/>
          <a:ext cx="891540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Feb–Mar: Declining PM₂.₅ — improved ventilation</a:t>
          </a:r>
          <a:endParaRPr lang="en-IN" sz="1500" kern="1200"/>
        </a:p>
      </dsp:txBody>
      <dsp:txXfrm>
        <a:off x="17991" y="487277"/>
        <a:ext cx="8879418" cy="332567"/>
      </dsp:txXfrm>
    </dsp:sp>
    <dsp:sp modelId="{1CE27993-DE81-4EEA-B54B-CE41AEC38DAF}">
      <dsp:nvSpPr>
        <dsp:cNvPr id="0" name=""/>
        <dsp:cNvSpPr/>
      </dsp:nvSpPr>
      <dsp:spPr>
        <a:xfrm>
          <a:off x="0" y="881036"/>
          <a:ext cx="891540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Apr–May: Moderate PM₂.₅ — dust and enhanced mixing</a:t>
          </a:r>
          <a:endParaRPr lang="en-IN" sz="1500" kern="1200"/>
        </a:p>
      </dsp:txBody>
      <dsp:txXfrm>
        <a:off x="17991" y="899027"/>
        <a:ext cx="8879418" cy="332567"/>
      </dsp:txXfrm>
    </dsp:sp>
    <dsp:sp modelId="{88EBD7A2-DC86-4BB9-98B2-C4B800B745CA}">
      <dsp:nvSpPr>
        <dsp:cNvPr id="0" name=""/>
        <dsp:cNvSpPr/>
      </dsp:nvSpPr>
      <dsp:spPr>
        <a:xfrm>
          <a:off x="0" y="1292786"/>
          <a:ext cx="891540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Jun: Drop in PM₂.₅ — onset of pre-monsoon rainfall</a:t>
          </a:r>
          <a:endParaRPr lang="en-IN" sz="1500" kern="1200"/>
        </a:p>
      </dsp:txBody>
      <dsp:txXfrm>
        <a:off x="17991" y="1310777"/>
        <a:ext cx="8879418" cy="332567"/>
      </dsp:txXfrm>
    </dsp:sp>
    <dsp:sp modelId="{F9F9D557-F327-438D-9364-1FD85978B336}">
      <dsp:nvSpPr>
        <dsp:cNvPr id="0" name=""/>
        <dsp:cNvSpPr/>
      </dsp:nvSpPr>
      <dsp:spPr>
        <a:xfrm>
          <a:off x="0" y="1704536"/>
          <a:ext cx="891540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Jul–Aug: Lowest PM₂.₅ — monsoon washout</a:t>
          </a:r>
          <a:endParaRPr lang="en-IN" sz="1500" kern="1200"/>
        </a:p>
      </dsp:txBody>
      <dsp:txXfrm>
        <a:off x="17991" y="1722527"/>
        <a:ext cx="8879418" cy="332567"/>
      </dsp:txXfrm>
    </dsp:sp>
    <dsp:sp modelId="{4B4DBEC1-F5D5-489C-91CE-5ECDEBC28FCE}">
      <dsp:nvSpPr>
        <dsp:cNvPr id="0" name=""/>
        <dsp:cNvSpPr/>
      </dsp:nvSpPr>
      <dsp:spPr>
        <a:xfrm>
          <a:off x="0" y="2116286"/>
          <a:ext cx="891540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Sep: Slight increase — monsoon withdrawal</a:t>
          </a:r>
          <a:endParaRPr lang="en-IN" sz="1500" kern="1200"/>
        </a:p>
      </dsp:txBody>
      <dsp:txXfrm>
        <a:off x="17991" y="2134277"/>
        <a:ext cx="8879418" cy="332567"/>
      </dsp:txXfrm>
    </dsp:sp>
    <dsp:sp modelId="{B1993D0C-8804-4330-9D46-C6F7FDAC6799}">
      <dsp:nvSpPr>
        <dsp:cNvPr id="0" name=""/>
        <dsp:cNvSpPr/>
      </dsp:nvSpPr>
      <dsp:spPr>
        <a:xfrm>
          <a:off x="0" y="2528036"/>
          <a:ext cx="891540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Oct: Sharp rise — post-monsoon onset</a:t>
          </a:r>
          <a:endParaRPr lang="en-IN" sz="1500" kern="1200"/>
        </a:p>
      </dsp:txBody>
      <dsp:txXfrm>
        <a:off x="17991" y="2546027"/>
        <a:ext cx="8879418" cy="332567"/>
      </dsp:txXfrm>
    </dsp:sp>
    <dsp:sp modelId="{FEE86F93-03E5-4A1C-AD90-C90150924963}">
      <dsp:nvSpPr>
        <dsp:cNvPr id="0" name=""/>
        <dsp:cNvSpPr/>
      </dsp:nvSpPr>
      <dsp:spPr>
        <a:xfrm>
          <a:off x="0" y="2939786"/>
          <a:ext cx="891540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Nov: Maximum PM₂.₅ — stubble burning and stagnation</a:t>
          </a:r>
          <a:endParaRPr lang="en-IN" sz="1500" kern="1200"/>
        </a:p>
      </dsp:txBody>
      <dsp:txXfrm>
        <a:off x="17991" y="2957777"/>
        <a:ext cx="8879418" cy="332567"/>
      </dsp:txXfrm>
    </dsp:sp>
    <dsp:sp modelId="{75C330AF-4FFB-4612-973F-B7C23C3F4302}">
      <dsp:nvSpPr>
        <dsp:cNvPr id="0" name=""/>
        <dsp:cNvSpPr/>
      </dsp:nvSpPr>
      <dsp:spPr>
        <a:xfrm>
          <a:off x="0" y="3351536"/>
          <a:ext cx="891540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Dec: Very high PM₂.₅ — winter buildup</a:t>
          </a:r>
          <a:endParaRPr lang="en-IN" sz="1500" kern="1200"/>
        </a:p>
      </dsp:txBody>
      <dsp:txXfrm>
        <a:off x="17991" y="3369527"/>
        <a:ext cx="8879418" cy="3325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0E32F5-C82F-4403-A7BF-67227606FC46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25609-31A1-494E-A6D1-F0DE16AB0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93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1476-35AB-4A0F-9B10-0FD1E5C21E4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E3931AC-C418-481C-A61D-B338E1805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012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1476-35AB-4A0F-9B10-0FD1E5C21E4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31AC-C418-481C-A61D-B338E1805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23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1476-35AB-4A0F-9B10-0FD1E5C21E4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E3931AC-C418-481C-A61D-B338E1805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81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1476-35AB-4A0F-9B10-0FD1E5C21E4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E3931AC-C418-481C-A61D-B338E1805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646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1476-35AB-4A0F-9B10-0FD1E5C21E4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E3931AC-C418-481C-A61D-B338E1805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646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1476-35AB-4A0F-9B10-0FD1E5C21E4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31AC-C418-481C-A61D-B338E1805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92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1476-35AB-4A0F-9B10-0FD1E5C21E4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31AC-C418-481C-A61D-B338E1805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218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1476-35AB-4A0F-9B10-0FD1E5C21E4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31AC-C418-481C-A61D-B338E1805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126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1476-35AB-4A0F-9B10-0FD1E5C21E4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E3931AC-C418-481C-A61D-B338E1805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590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1476-35AB-4A0F-9B10-0FD1E5C21E4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E3931AC-C418-481C-A61D-B338E1805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073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1476-35AB-4A0F-9B10-0FD1E5C21E4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E3931AC-C418-481C-A61D-B338E1805649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8859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1476-35AB-4A0F-9B10-0FD1E5C21E4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E3931AC-C418-481C-A61D-B338E1805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804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1476-35AB-4A0F-9B10-0FD1E5C21E4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E3931AC-C418-481C-A61D-B338E1805649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6886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1476-35AB-4A0F-9B10-0FD1E5C21E4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E3931AC-C418-481C-A61D-B338E1805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730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1476-35AB-4A0F-9B10-0FD1E5C21E4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31AC-C418-481C-A61D-B338E1805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050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1476-35AB-4A0F-9B10-0FD1E5C21E4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31AC-C418-481C-A61D-B338E1805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395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01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81476-35AB-4A0F-9B10-0FD1E5C21E40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E3931AC-C418-481C-A61D-B338E1805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281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E13ED-A75A-4D6C-394D-CA26856F6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1"/>
            <a:ext cx="8602123" cy="1700842"/>
          </a:xfrm>
        </p:spPr>
        <p:txBody>
          <a:bodyPr>
            <a:noAutofit/>
          </a:bodyPr>
          <a:lstStyle/>
          <a:p>
            <a:r>
              <a:rPr lang="en-US" sz="4400"/>
              <a:t>Spatiotemporal Analysis of PM2.5 and Meteorological Parameters (2021–2024)</a:t>
            </a:r>
            <a:endParaRPr lang="en-IN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86F27-28F9-12F9-396A-EE4554A0C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9432" y="4777381"/>
            <a:ext cx="8915399" cy="1537155"/>
          </a:xfrm>
        </p:spPr>
        <p:txBody>
          <a:bodyPr>
            <a:normAutofit fontScale="85000" lnSpcReduction="20000"/>
          </a:bodyPr>
          <a:lstStyle/>
          <a:p>
            <a:r>
              <a:rPr lang="en-US" sz="3400" b="1"/>
              <a:t>Ground Data Cleaning, Station Selection, and Gap Filling (Week 1 &amp; 2 Update)</a:t>
            </a:r>
          </a:p>
          <a:p>
            <a:pPr algn="r"/>
            <a:r>
              <a:rPr lang="en-US"/>
              <a:t>- </a:t>
            </a:r>
            <a:r>
              <a:rPr lang="en-US" sz="2300"/>
              <a:t>Archie Mittal (2024CS10560)</a:t>
            </a:r>
            <a:br>
              <a:rPr lang="en-US" sz="2300"/>
            </a:br>
            <a:r>
              <a:rPr lang="en-US" sz="2300"/>
              <a:t>- Yashwardhan Singh Choudhary (2024CS10300)</a:t>
            </a:r>
            <a:endParaRPr lang="en-IN" sz="2300"/>
          </a:p>
        </p:txBody>
      </p:sp>
    </p:spTree>
    <p:extLst>
      <p:ext uri="{BB962C8B-B14F-4D97-AF65-F5344CB8AC3E}">
        <p14:creationId xmlns:p14="http://schemas.microsoft.com/office/powerpoint/2010/main" val="1599707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D0311-DAB1-C90E-9493-F0013E156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Project Overview &amp; Data Source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672ADF-BC8B-970F-BBFD-62AF194171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62384"/>
            <a:ext cx="11155188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Objective: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analyze PM2.5 trends and their relationship with wind parameters across multiple stations.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Source: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Central Pollution Control Board (CPCB) Hourly Data available of 39 stations.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Temporal Coverage: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January 2021 to December 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Parameters Studied: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PM_2.5 (Particulate Matter)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Wind Speed (WS)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Wind Direction (WD)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77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370A6-12EE-3798-0C59-611055826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1 – Robust Data Organization</a:t>
            </a:r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05255A5-F8E4-7809-63CE-33DC8AE442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68199"/>
            <a:ext cx="10226615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Standardize file structures and assess raw availability.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Actions: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 "Robust Mapping" script to identify target columns using keyword matching (Regex).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Organized raw files into a structured hierarchy based on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site_id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and year.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Deliverable: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1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station_availability_summary_robust.csv</a:t>
            </a:r>
            <a:r>
              <a:rPr kumimoji="0" lang="en-US" altLang="en-US" sz="2400" b="0" i="1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1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file tracked the percentage of non-null data for every station-year combination.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27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76AF9-F066-0D42-B2EA-62E0CC79B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2 – Station Selection Criteria</a:t>
            </a:r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C2A7AEB-2E0E-41C9-EA0A-094223E6CB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25283" y="2180071"/>
            <a:ext cx="9345284" cy="34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Goal: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Filter for high-quality, continuous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70% Rule: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station was only selected if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PM_2.5, Wind Speed, and Wind Direction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all had &gt; 70% availability for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every single year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from 2021 to 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Results: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Original: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39 stations.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Selected: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26 stations met the rigorous quality threshold.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Deliverable: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800" b="0" i="1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final_selected_stations.csv.</a:t>
            </a:r>
            <a:endParaRPr kumimoji="0" lang="en-US" altLang="en-US" sz="2800" b="0" i="1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097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102CF-2595-A7C2-9F72-E6750FD29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Task 3 – Column Standardization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55BC49-C402-AEDC-0D44-C81ACAFB8D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77992" y="2391818"/>
            <a:ext cx="9632831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Process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ensure seamless analysis across 26 folders, all CSVs were reformatted.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Mapping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timestamp -&gt;Standard Datetime format.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PM 2.5 -&gt;Standardized unit/name.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wind_speed &amp; wind_dir -&gt;Unified labels.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Result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clean, analysis-ready directory: final_station_data_clean/ which contains all the 26 stations and each of them contains separate datasets for the respective years i.e. 2021 to 2024.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86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6DAD5-7B12-A0A5-B3C0-40545FBFD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Task 4 – Temporal Gap Filling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59F307-D1DD-C46B-649B-02259FE23A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31986" y="2222589"/>
            <a:ext cx="10834776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Problem: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Even high-quality stations have "micro-gaps" (1–3 missing hours) which disrupt time-series modeling.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Strategy: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Linear Interpolation.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Threshold: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Only gaps &lt;= 3 hours were filled.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Why?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maintain scientific integrity. Large gaps (e.g., 24 hours) cannot be accurately estimated by simple means.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Outcome: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Improved data continuity for diurnal cycle analysis.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/>
              <a:t>Deliverable:</a:t>
            </a:r>
            <a:r>
              <a:rPr lang="en-US"/>
              <a:t> </a:t>
            </a:r>
            <a:r>
              <a:rPr lang="en-US" sz="2400" i="1"/>
              <a:t>final_availability_after_fill.csv</a:t>
            </a:r>
            <a:endParaRPr kumimoji="0" lang="en-US" altLang="en-US" sz="24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324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850B0-F5CD-AA89-2049-91AB89FAB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Analysis (Before vs. After)</a:t>
            </a:r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817ECF-2ED3-ABA8-2F9C-087F127601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454843"/>
            <a:ext cx="8668109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Impact: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Average PM_2.5 </a:t>
            </a:r>
            <a:r>
              <a:rPr lang="en-US" altLang="en-US" sz="1800" b="1">
                <a:latin typeface="Google Sans Text"/>
              </a:rPr>
              <a:t>a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vailability: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Increased by approximately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1.49%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Wind Speed Availability: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Increased by approximately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0.76%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i="1" u="sng">
                <a:latin typeface="Google Sans Text"/>
              </a:rPr>
              <a:t>Visual Proof: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1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174D39-6F53-ECF6-6E92-45F0E731C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025" y="2346385"/>
            <a:ext cx="8362591" cy="414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889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63414-1702-5024-119A-2091D0FCA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 &amp; Next Steps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06DCE-C1A9-29B7-87D4-67F4AC97C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Summary:</a:t>
            </a:r>
            <a:r>
              <a:rPr lang="en-US"/>
              <a:t> We have established a high-quality dataset of 26 stations with standardized metrics and filled temporal gaps.</a:t>
            </a:r>
          </a:p>
          <a:p>
            <a:endParaRPr lang="en-US"/>
          </a:p>
          <a:p>
            <a:endParaRPr lang="en-US"/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i="1" u="sng"/>
              <a:t>Future Work: </a:t>
            </a:r>
            <a:br>
              <a:rPr lang="en-US"/>
            </a:br>
            <a:r>
              <a:rPr lang="en-US" altLang="en-US" sz="2400" b="1">
                <a:latin typeface="Google Sans Text"/>
              </a:rPr>
              <a:t> Seasonal Trends &amp; Station Correlations</a:t>
            </a:r>
            <a:endParaRPr lang="en-US" altLang="en-US" sz="240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latin typeface="Google Sans Text"/>
              </a:rPr>
              <a:t>Seasonal Profiles:</a:t>
            </a:r>
            <a:r>
              <a:rPr lang="en-US" altLang="en-US">
                <a:latin typeface="Google Sans Text"/>
              </a:rPr>
              <a:t> Identify PM_2.5 peaks across Winter, Monsoon, and Post-Monsoon periods (2021–2024).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latin typeface="Google Sans Text"/>
              </a:rPr>
              <a:t>Spatial Heatmaps:</a:t>
            </a:r>
            <a:r>
              <a:rPr lang="en-US" altLang="en-US">
                <a:latin typeface="Google Sans Text"/>
              </a:rPr>
              <a:t> Create a correlation matrix to identify which stations share similar pollution patterns.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982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0E7A6-7CBE-F909-3992-E2329F816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77421"/>
            <a:ext cx="8911687" cy="1077253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262626"/>
                </a:solidFill>
                <a:latin typeface="+mn-lt"/>
                <a:ea typeface="+mn-lt"/>
                <a:cs typeface="+mn-lt"/>
              </a:rPr>
              <a:t>Week 3: Seasonal and Monthly Analysis of PM₂.₅ (2021–2024)</a:t>
            </a:r>
            <a:endParaRPr lang="en-IN">
              <a:solidFill>
                <a:srgbClr val="262626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E752A-1DFE-D785-8582-E27CC78D2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73067"/>
            <a:ext cx="8915400" cy="1872622"/>
          </a:xfrm>
        </p:spPr>
        <p:txBody>
          <a:bodyPr/>
          <a:lstStyle/>
          <a:p>
            <a:r>
              <a:rPr lang="en-US"/>
              <a:t>Objective: Analyze seasonal and monthly variability of PM₂.₅ across selected CPCB stations.</a:t>
            </a:r>
          </a:p>
          <a:p>
            <a:r>
              <a:rPr lang="en-US"/>
              <a:t>Dataset: 26 stations with hourly PM₂.₅ data (2021–2024).</a:t>
            </a:r>
          </a:p>
          <a:p>
            <a:r>
              <a:rPr lang="en-US"/>
              <a:t>Focus: Seasonal trends, monthly evolution, and meteorological interpretation.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F9D722-587C-153A-567C-BB760599A550}"/>
              </a:ext>
            </a:extLst>
          </p:cNvPr>
          <p:cNvSpPr txBox="1"/>
          <p:nvPr/>
        </p:nvSpPr>
        <p:spPr>
          <a:xfrm>
            <a:off x="2483068" y="2837793"/>
            <a:ext cx="951186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ea typeface="+mn-lt"/>
                <a:cs typeface="+mn-lt"/>
              </a:rPr>
              <a:t>Diurnal Variations &amp; Behavioral Analysis</a:t>
            </a:r>
            <a:endParaRPr lang="en-US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516AA-68DD-A35A-B9B3-72B9FA110404}"/>
              </a:ext>
            </a:extLst>
          </p:cNvPr>
          <p:cNvSpPr txBox="1"/>
          <p:nvPr/>
        </p:nvSpPr>
        <p:spPr>
          <a:xfrm>
            <a:off x="2272861" y="3750879"/>
            <a:ext cx="972206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Objective:</a:t>
            </a:r>
            <a:r>
              <a:rPr lang="en-US">
                <a:ea typeface="+mn-lt"/>
                <a:cs typeface="+mn-lt"/>
              </a:rPr>
              <a:t> To characterize the "Heartbeat" of Delhi’s air pollution by analyzing hourly PM_2.5 fluctuations across 26 stations over a 4-year period (2021–2024).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Core Question:</a:t>
            </a:r>
            <a:r>
              <a:rPr lang="en-US">
                <a:ea typeface="+mn-lt"/>
                <a:cs typeface="+mn-lt"/>
              </a:rPr>
              <a:t> How do human activity (emissions) and atmospheric physics (meteorology) interact to create daily pollution cycles?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Deliverables: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Processed Dataset: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>
                <a:latin typeface="Consolas"/>
              </a:rPr>
              <a:t>diurnal_pm2.5_seasonwise.csv</a:t>
            </a:r>
            <a:r>
              <a:rPr lang="en-US">
                <a:ea typeface="+mn-lt"/>
                <a:cs typeface="+mn-lt"/>
              </a:rPr>
              <a:t> (Aggregated network-wide hourly averages).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Primary Visualization: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>
                <a:latin typeface="Consolas"/>
              </a:rPr>
              <a:t>diurnal_trends_comparison.png</a:t>
            </a:r>
            <a:r>
              <a:rPr lang="en-US">
                <a:ea typeface="+mn-lt"/>
                <a:cs typeface="+mn-lt"/>
              </a:rPr>
              <a:t> (Comparative seasonal 24-hour profiles).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126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67C55-AB82-9A6E-37DD-8612781C1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Seasonal Classification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BF98D-6BFE-45B8-86ED-8439A2D83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We added a season column by mapping calendar months to standard Indian climatological seasons.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Seasonal bins used:</a:t>
            </a:r>
          </a:p>
          <a:p>
            <a:pPr marL="0" indent="0">
              <a:buNone/>
            </a:pPr>
            <a:r>
              <a:rPr lang="en-US"/>
              <a:t>Winter: December–February</a:t>
            </a:r>
          </a:p>
          <a:p>
            <a:pPr marL="0" indent="0">
              <a:buNone/>
            </a:pPr>
            <a:r>
              <a:rPr lang="en-US"/>
              <a:t>Pre-monsoon: March–May</a:t>
            </a:r>
          </a:p>
          <a:p>
            <a:pPr marL="0" indent="0">
              <a:buNone/>
            </a:pPr>
            <a:r>
              <a:rPr lang="en-US"/>
              <a:t>Monsoon: June–September</a:t>
            </a:r>
          </a:p>
          <a:p>
            <a:pPr marL="0" indent="0">
              <a:buNone/>
            </a:pPr>
            <a:r>
              <a:rPr lang="en-US"/>
              <a:t>Post-monsoon: October–November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The cleaned datasets were overwritten to ensure consistent seasonal labeling for all downstream analyses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242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03C5D-EA08-9FAF-8E9B-F35D9B14E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PM₂.₅ Aggregation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AAD2A-186C-E4A3-D8ED-945345E32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Seasonal PM₂.₅ statistics were computed independently at each station for each year.</a:t>
            </a:r>
          </a:p>
          <a:p>
            <a:r>
              <a:rPr lang="en-US"/>
              <a:t>Station-level seasonal means were first averaged across years (2021–2024).</a:t>
            </a:r>
          </a:p>
          <a:p>
            <a:r>
              <a:rPr lang="en-US"/>
              <a:t>Network-level seasonal PM₂.₅ was then obtained by equally weighting all stations.</a:t>
            </a:r>
          </a:p>
          <a:p>
            <a:r>
              <a:rPr lang="en-US"/>
              <a:t>This approach prevents dominance by any single station or year.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128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B435-292F-E1AD-3D96-30777E3C3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Seasonal Average PM₂.₅ (Network Mean)</a:t>
            </a:r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3E228A-255F-CB4E-6FE5-1D8DCCC0D9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77" y="2074606"/>
            <a:ext cx="4933347" cy="384707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024AEB-8D96-4D10-3970-72B4A4313848}"/>
              </a:ext>
            </a:extLst>
          </p:cNvPr>
          <p:cNvSpPr txBox="1"/>
          <p:nvPr/>
        </p:nvSpPr>
        <p:spPr>
          <a:xfrm>
            <a:off x="5319778" y="1458987"/>
            <a:ext cx="646138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Winter and post-monsoon seasons exhibit the highest PM₂.₅ concentrations.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Monsoon shows the lowest PM₂.₅ levels due to wet scavenging and enhanced ventilation.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Pre-monsoon displays transitional PM₂.₅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High winter PM₂.₅ is driven by shallow boundary layer heights and frequent temperature inversions.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Post-monsoon enhancement is linked to crop residue burning and reduced atmospheric dispersion.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Monsoon PM₂.₅ reduction is caused by rainfall-driven washout and stronger winds.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 Pre-monsoon reflects mixed influence of dust resuspension and improved mixing.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045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10BCA-4196-9CB3-90AD-571FD3DD9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Monthly Average PM₂.₅ (Network Mean, 2021–2024)</a:t>
            </a:r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12AB26-F7FA-44C2-6717-FC87BCC324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80" y="2198915"/>
            <a:ext cx="4501089" cy="37782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AB5BF2-8000-0834-74F8-B1586868569F}"/>
              </a:ext>
            </a:extLst>
          </p:cNvPr>
          <p:cNvSpPr txBox="1"/>
          <p:nvPr/>
        </p:nvSpPr>
        <p:spPr>
          <a:xfrm>
            <a:off x="5159829" y="2286000"/>
            <a:ext cx="65967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/>
              <a:t>Monthly PM₂.₅ peaks during November–January due to post-monsoon biomass burning and wintertime atmospheric stagnation.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/>
              <a:t>Lowest PM₂.₅ levels occur during July–August because of intense rainfall and wet scavenging.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/>
              <a:t>A sharp rise in October marks the transition from monsoon to post-monsoon pollution buildup.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/>
              <a:t>Consistency across years highlights the dominant role of seasonal meteorology.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316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4E7DD-9345-E0A6-2C30-9010D8B9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Month-wise PM₂.₅ </a:t>
            </a:r>
            <a:r>
              <a:rPr lang="en-IN" err="1"/>
              <a:t>Behavior</a:t>
            </a:r>
            <a:endParaRPr lang="en-IN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69C8958-21C0-721C-2344-32E372305D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4793340"/>
              </p:ext>
            </p:extLst>
          </p:nvPr>
        </p:nvGraphicFramePr>
        <p:xfrm>
          <a:off x="2589212" y="2133600"/>
          <a:ext cx="891540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0774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703B1-271E-F98A-25FF-DF54C092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290382"/>
            <a:ext cx="9876728" cy="990569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400" b="1">
                <a:ea typeface="+mj-lt"/>
                <a:cs typeface="+mj-lt"/>
              </a:rPr>
              <a:t>Diurnal Heartbeat of Delhi’s PM₂.₅</a:t>
            </a:r>
            <a:br>
              <a:rPr lang="en-US" sz="1700">
                <a:ea typeface="+mj-lt"/>
                <a:cs typeface="+mj-lt"/>
              </a:rPr>
            </a:br>
            <a:r>
              <a:rPr lang="en-US" sz="1700">
                <a:ea typeface="+mj-lt"/>
                <a:cs typeface="+mj-lt"/>
              </a:rPr>
              <a:t>Understanding the Daily Cycle: Rush Hours vs. Atmospheric Physics</a:t>
            </a:r>
            <a:endParaRPr lang="en-US" sz="17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6DA44D3-12A7-32F1-289A-A38AEFC5A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1463566"/>
            <a:ext cx="4450762" cy="523547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1">
                <a:ea typeface="+mn-lt"/>
                <a:cs typeface="+mn-lt"/>
              </a:rPr>
              <a:t>The Double-Peak Pattern:</a:t>
            </a:r>
            <a:r>
              <a:rPr lang="en-US" sz="1600">
                <a:ea typeface="+mn-lt"/>
                <a:cs typeface="+mn-lt"/>
              </a:rPr>
              <a:t> Across all seasons, the data reveals two distinct peaks:</a:t>
            </a:r>
            <a:endParaRPr lang="en-US" sz="1600"/>
          </a:p>
          <a:p>
            <a:pPr>
              <a:lnSpc>
                <a:spcPct val="90000"/>
              </a:lnSpc>
            </a:pPr>
            <a:r>
              <a:rPr lang="en-US" sz="1600" b="1">
                <a:ea typeface="+mn-lt"/>
                <a:cs typeface="+mn-lt"/>
              </a:rPr>
              <a:t>Morning Peak (08:00 – 10:00):</a:t>
            </a:r>
            <a:r>
              <a:rPr lang="en-US" sz="1600">
                <a:ea typeface="+mn-lt"/>
                <a:cs typeface="+mn-lt"/>
              </a:rPr>
              <a:t> Driven by the resumption of traffic (rush hour) and domestic emissions, coinciding with a still-shallow morning mixing layer.</a:t>
            </a:r>
            <a:endParaRPr lang="en-US" sz="1600"/>
          </a:p>
          <a:p>
            <a:pPr>
              <a:lnSpc>
                <a:spcPct val="90000"/>
              </a:lnSpc>
            </a:pPr>
            <a:r>
              <a:rPr lang="en-US" sz="1600" b="1">
                <a:ea typeface="+mn-lt"/>
                <a:cs typeface="+mn-lt"/>
              </a:rPr>
              <a:t>Evening/Night Peak (20:00 – 22:00):</a:t>
            </a:r>
            <a:r>
              <a:rPr lang="en-US" sz="1600">
                <a:ea typeface="+mn-lt"/>
                <a:cs typeface="+mn-lt"/>
              </a:rPr>
              <a:t> Often higher than the morning peak. This is caused by the "collapse" of the atmospheric boundary layer after sunset, trapping emissions near the ground.</a:t>
            </a:r>
            <a:endParaRPr lang="en-US" sz="1600"/>
          </a:p>
          <a:p>
            <a:pPr>
              <a:lnSpc>
                <a:spcPct val="90000"/>
              </a:lnSpc>
            </a:pPr>
            <a:r>
              <a:rPr lang="en-US" sz="1600" b="1">
                <a:ea typeface="+mn-lt"/>
                <a:cs typeface="+mn-lt"/>
              </a:rPr>
              <a:t>The Afternoon Dip (14:00 – 16:00):</a:t>
            </a:r>
            <a:r>
              <a:rPr lang="en-US" sz="1600">
                <a:ea typeface="+mn-lt"/>
                <a:cs typeface="+mn-lt"/>
              </a:rPr>
              <a:t> PM_2.5 levels are consistently at their lowest during the mid-afternoon.</a:t>
            </a:r>
            <a:endParaRPr lang="en-US" sz="1600"/>
          </a:p>
          <a:p>
            <a:pPr>
              <a:lnSpc>
                <a:spcPct val="90000"/>
              </a:lnSpc>
            </a:pPr>
            <a:r>
              <a:rPr lang="en-US" sz="1600" b="1">
                <a:ea typeface="+mn-lt"/>
                <a:cs typeface="+mn-lt"/>
              </a:rPr>
              <a:t>Why?</a:t>
            </a:r>
            <a:r>
              <a:rPr lang="en-US" sz="1600">
                <a:ea typeface="+mn-lt"/>
                <a:cs typeface="+mn-lt"/>
              </a:rPr>
              <a:t> Solar heating triggers </a:t>
            </a:r>
            <a:r>
              <a:rPr lang="en-US" sz="1600" b="1">
                <a:ea typeface="+mn-lt"/>
                <a:cs typeface="+mn-lt"/>
              </a:rPr>
              <a:t>Vertical Mixing</a:t>
            </a:r>
            <a:r>
              <a:rPr lang="en-US" sz="1600">
                <a:ea typeface="+mn-lt"/>
                <a:cs typeface="+mn-lt"/>
              </a:rPr>
              <a:t>. As the ground warms, air rises, increasing the "Mixing Height" and diluting pollutants.</a:t>
            </a:r>
            <a:endParaRPr lang="en-US" sz="1600"/>
          </a:p>
          <a:p>
            <a:pPr>
              <a:lnSpc>
                <a:spcPct val="90000"/>
              </a:lnSpc>
            </a:pPr>
            <a:endParaRPr lang="en-US" sz="1100"/>
          </a:p>
        </p:txBody>
      </p:sp>
      <p:pic>
        <p:nvPicPr>
          <p:cNvPr id="4" name="Content Placeholder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3FAE9A0-5B9F-4385-879B-3D4F7E457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301" y="1279723"/>
            <a:ext cx="6953577" cy="4050457"/>
          </a:xfrm>
          <a:prstGeom prst="rect">
            <a:avLst/>
          </a:prstGeom>
        </p:spPr>
      </p:pic>
      <p:sp>
        <p:nvSpPr>
          <p:cNvPr id="35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51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3847-03AB-E097-C392-3E9E3C57B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0132" y="203697"/>
            <a:ext cx="10534221" cy="1701303"/>
          </a:xfrm>
        </p:spPr>
        <p:txBody>
          <a:bodyPr>
            <a:normAutofit/>
          </a:bodyPr>
          <a:lstStyle/>
          <a:p>
            <a:r>
              <a:rPr lang="en-US" b="1"/>
              <a:t>Seasonal Variability &amp; Boundary Layer Severity</a:t>
            </a:r>
            <a:endParaRPr lang="en-US"/>
          </a:p>
          <a:p>
            <a:pPr algn="r"/>
            <a:r>
              <a:rPr lang="en-US" sz="2000" b="1">
                <a:ea typeface="+mj-lt"/>
                <a:cs typeface="+mj-lt"/>
              </a:rPr>
              <a:t>Seasonal Contrast: Why Winter and Post-Monsoon Skyrocket</a:t>
            </a:r>
            <a:endParaRPr lang="en-US" sz="2000"/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47A41-4399-75F4-2373-33C2630B0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8212" y="1706617"/>
            <a:ext cx="9677400" cy="45856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>
                <a:ea typeface="+mn-lt"/>
                <a:cs typeface="+mn-lt"/>
              </a:rPr>
              <a:t>Magnitude Divergence: 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 Winter &amp; Post-Monsoon:</a:t>
            </a:r>
            <a:r>
              <a:rPr lang="en-US">
                <a:ea typeface="+mn-lt"/>
                <a:cs typeface="+mn-lt"/>
              </a:rPr>
              <a:t> Both hit massive peaks exceeding </a:t>
            </a:r>
            <a:r>
              <a:rPr lang="en-US" b="1">
                <a:ea typeface="+mn-lt"/>
                <a:cs typeface="+mn-lt"/>
              </a:rPr>
              <a:t>260–280 µg/m³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Monsoon:</a:t>
            </a:r>
            <a:r>
              <a:rPr lang="en-US">
                <a:ea typeface="+mn-lt"/>
                <a:cs typeface="+mn-lt"/>
              </a:rPr>
              <a:t> Shows the most stable profile (66–86 µg/m³). Rain scavenging (washout) and higher humidity prevent major accumulation.</a:t>
            </a:r>
            <a:endParaRPr lang="en-US"/>
          </a:p>
          <a:p>
            <a:pPr algn="ctr"/>
            <a:r>
              <a:rPr lang="en-US" b="1">
                <a:ea typeface="+mn-lt"/>
                <a:cs typeface="+mn-lt"/>
              </a:rPr>
              <a:t>The "Lid" Effect (Thermal Inversion):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In </a:t>
            </a:r>
            <a:r>
              <a:rPr lang="en-US" b="1">
                <a:ea typeface="+mn-lt"/>
                <a:cs typeface="+mn-lt"/>
              </a:rPr>
              <a:t>Winter</a:t>
            </a:r>
            <a:r>
              <a:rPr lang="en-US">
                <a:ea typeface="+mn-lt"/>
                <a:cs typeface="+mn-lt"/>
              </a:rPr>
              <a:t>, the nighttime cooling of the ground is so intense that it creates a "Temperature Inversion." This acts as a physical lid, trapping all pollutants within 100-200 meters of the surface, causing the extreme spikes seen in your data.</a:t>
            </a:r>
            <a:endParaRPr lang="en-US"/>
          </a:p>
          <a:p>
            <a:pPr algn="ctr"/>
            <a:r>
              <a:rPr lang="en-US" b="1">
                <a:ea typeface="+mn-lt"/>
                <a:cs typeface="+mn-lt"/>
              </a:rPr>
              <a:t>Post-Monsoon Dynamics: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Captures the unique "tail" of pollution from midnight to 4 AM (~268 µg/m³), reflecting the arrival of transported biomass smoke under stagnant night conditions.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20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F7E8610-2DF7-4AF0-B876-0F3B7882A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C8C023-62A6-4DA0-8DF4-3F4EA9409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98D7A9-3485-255E-C103-C31D21EA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 u="sng">
                <a:solidFill>
                  <a:schemeClr val="bg1"/>
                </a:solidFill>
              </a:rPr>
              <a:t>Summary of Findings</a:t>
            </a:r>
            <a:endParaRPr lang="en-US" sz="3100" u="sng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3100" b="1">
                <a:solidFill>
                  <a:schemeClr val="bg1"/>
                </a:solidFill>
                <a:ea typeface="+mj-lt"/>
                <a:cs typeface="+mj-lt"/>
              </a:rPr>
              <a:t> Physical Interpretations &amp; Statistical Summary</a:t>
            </a:r>
            <a:endParaRPr lang="en-US" sz="3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3100">
              <a:solidFill>
                <a:schemeClr val="bg1"/>
              </a:solidFill>
            </a:endParaRP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26B9FE07-322E-43FB-8707-C9826BD90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F9C0045-1E87-3E7E-60C6-9409240969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9391836"/>
              </p:ext>
            </p:extLst>
          </p:nvPr>
        </p:nvGraphicFramePr>
        <p:xfrm>
          <a:off x="13137" y="2778672"/>
          <a:ext cx="5654377" cy="3448980"/>
        </p:xfrm>
        <a:graphic>
          <a:graphicData uri="http://schemas.openxmlformats.org/drawingml/2006/table">
            <a:tbl>
              <a:tblPr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397807">
                  <a:extLst>
                    <a:ext uri="{9D8B030D-6E8A-4147-A177-3AD203B41FA5}">
                      <a16:colId xmlns:a16="http://schemas.microsoft.com/office/drawing/2014/main" val="228716924"/>
                    </a:ext>
                  </a:extLst>
                </a:gridCol>
                <a:gridCol w="2128285">
                  <a:extLst>
                    <a:ext uri="{9D8B030D-6E8A-4147-A177-3AD203B41FA5}">
                      <a16:colId xmlns:a16="http://schemas.microsoft.com/office/drawing/2014/main" val="1621754755"/>
                    </a:ext>
                  </a:extLst>
                </a:gridCol>
                <a:gridCol w="2128285">
                  <a:extLst>
                    <a:ext uri="{9D8B030D-6E8A-4147-A177-3AD203B41FA5}">
                      <a16:colId xmlns:a16="http://schemas.microsoft.com/office/drawing/2014/main" val="2761627594"/>
                    </a:ext>
                  </a:extLst>
                </a:gridCol>
              </a:tblGrid>
              <a:tr h="34932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Season</a:t>
                      </a:r>
                      <a:endParaRPr lang="en-US" sz="16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83225" marR="148615" marT="23778" marB="178338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Diurnal Range (Peak-Trough)</a:t>
                      </a:r>
                      <a:endParaRPr lang="en-US" sz="16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83225" marR="148615" marT="23778" marB="1783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Atmospheric State</a:t>
                      </a:r>
                      <a:endParaRPr lang="en-US" sz="16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83225" marR="148615" marT="23778" marB="1783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299267"/>
                  </a:ext>
                </a:extLst>
              </a:tr>
              <a:tr h="34932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Winter</a:t>
                      </a:r>
                      <a:endParaRPr lang="en-US" sz="16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83225" marR="148615" marT="23778" marB="178338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118.4 µg/m³</a:t>
                      </a:r>
                      <a:endParaRPr lang="en-US" sz="16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83225" marR="148615" marT="23778" marB="1783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Highly Stable / Frequent Inversions</a:t>
                      </a:r>
                    </a:p>
                  </a:txBody>
                  <a:tcPr marL="83225" marR="148615" marT="23778" marB="1783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636133"/>
                  </a:ext>
                </a:extLst>
              </a:tr>
              <a:tr h="34932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Post-Monsoon</a:t>
                      </a:r>
                      <a:endParaRPr lang="en-US" sz="16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83225" marR="148615" marT="23778" marB="178338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120.8 µg/m³</a:t>
                      </a:r>
                      <a:endParaRPr lang="en-US" sz="16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83225" marR="148615" marT="23778" marB="1783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Stagnant / Accumulation Phase</a:t>
                      </a:r>
                    </a:p>
                  </a:txBody>
                  <a:tcPr marL="83225" marR="148615" marT="23778" marB="1783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976461"/>
                  </a:ext>
                </a:extLst>
              </a:tr>
              <a:tr h="34932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Pre-Monsoon</a:t>
                      </a:r>
                      <a:endParaRPr lang="en-US" sz="16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83225" marR="148615" marT="23778" marB="178338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92.6 µg/m³</a:t>
                      </a:r>
                      <a:endParaRPr lang="en-US" sz="16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83225" marR="148615" marT="23778" marB="1783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Turbulent / Dust-Heavy</a:t>
                      </a:r>
                    </a:p>
                  </a:txBody>
                  <a:tcPr marL="83225" marR="148615" marT="23778" marB="1783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238883"/>
                  </a:ext>
                </a:extLst>
              </a:tr>
              <a:tr h="34932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Monsoon</a:t>
                      </a:r>
                      <a:endParaRPr lang="en-US" sz="16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83225" marR="148615" marT="23778" marB="178338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20.5 µg/m³</a:t>
                      </a:r>
                      <a:endParaRPr lang="en-US" sz="16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83225" marR="148615" marT="23778" marB="1783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Unstable / High Ventilation</a:t>
                      </a:r>
                    </a:p>
                  </a:txBody>
                  <a:tcPr marL="83225" marR="148615" marT="23778" marB="17833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5601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A097F83-2C9F-7F05-D025-5849E994D0DC}"/>
              </a:ext>
            </a:extLst>
          </p:cNvPr>
          <p:cNvSpPr txBox="1"/>
          <p:nvPr/>
        </p:nvSpPr>
        <p:spPr>
          <a:xfrm>
            <a:off x="5728138" y="2469931"/>
            <a:ext cx="6437586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ea typeface="+mn-lt"/>
                <a:cs typeface="+mn-lt"/>
              </a:rPr>
              <a:t>Conclusion: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algn="ctr"/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PM_2.5 concentration is a function of </a:t>
            </a:r>
            <a:r>
              <a:rPr lang="en-US" b="1">
                <a:ea typeface="+mn-lt"/>
                <a:cs typeface="+mn-lt"/>
              </a:rPr>
              <a:t>Emissions ÷ Volume</a:t>
            </a:r>
            <a:r>
              <a:rPr lang="en-US">
                <a:ea typeface="+mn-lt"/>
                <a:cs typeface="+mn-lt"/>
              </a:rPr>
              <a:t>. In the afternoon, the "Volume" (PBL height) is large, leading to lower concentrations. At night, the "Volume" is tiny, leading to toxic air.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Impact:</a:t>
            </a:r>
            <a:r>
              <a:rPr lang="en-US">
                <a:ea typeface="+mn-lt"/>
                <a:cs typeface="+mn-lt"/>
              </a:rPr>
              <a:t> This confirms that policy interventions must account for meteorology; the same emission levels produce much higher health risks at 9 PM than at 3 PM.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83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8A8B6-77FD-C29D-3AD7-E65B8699D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255401"/>
            <a:ext cx="8911687" cy="1649599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Week 3 Conclusion &amp; Week 4 Outlook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CDDF4-C500-8364-51CA-42D85141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858" y="1310149"/>
            <a:ext cx="9683544" cy="53139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Seasonal Baseline:</a:t>
            </a:r>
            <a:r>
              <a:rPr lang="en-US">
                <a:ea typeface="+mn-lt"/>
                <a:cs typeface="+mn-lt"/>
              </a:rPr>
              <a:t> Analysis confirms </a:t>
            </a:r>
            <a:r>
              <a:rPr lang="en-US" b="1">
                <a:ea typeface="+mn-lt"/>
                <a:cs typeface="+mn-lt"/>
              </a:rPr>
              <a:t>Winter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b="1">
                <a:ea typeface="+mn-lt"/>
                <a:cs typeface="+mn-lt"/>
              </a:rPr>
              <a:t>Post-Monsoon</a:t>
            </a:r>
            <a:r>
              <a:rPr lang="en-US">
                <a:ea typeface="+mn-lt"/>
                <a:cs typeface="+mn-lt"/>
              </a:rPr>
              <a:t> pollution levels are </a:t>
            </a:r>
            <a:r>
              <a:rPr lang="en-US" b="1">
                <a:ea typeface="+mn-lt"/>
                <a:cs typeface="+mn-lt"/>
              </a:rPr>
              <a:t>300% higher</a:t>
            </a:r>
            <a:r>
              <a:rPr lang="en-US">
                <a:ea typeface="+mn-lt"/>
                <a:cs typeface="+mn-lt"/>
              </a:rPr>
              <a:t> than Monsoon.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The ABL Driver:</a:t>
            </a:r>
            <a:r>
              <a:rPr lang="en-US">
                <a:ea typeface="+mn-lt"/>
                <a:cs typeface="+mn-lt"/>
              </a:rPr>
              <a:t> Diurnal trends prove PM_2.5 is controlled by the </a:t>
            </a:r>
            <a:r>
              <a:rPr lang="en-US" b="1">
                <a:ea typeface="+mn-lt"/>
                <a:cs typeface="+mn-lt"/>
              </a:rPr>
              <a:t>Atmospheric Boundary Layer (ABL)</a:t>
            </a:r>
            <a:r>
              <a:rPr lang="en-US">
                <a:ea typeface="+mn-lt"/>
                <a:cs typeface="+mn-lt"/>
              </a:rPr>
              <a:t>. High nighttime levels are caused by the "Lid Effect" (Thermal Inversion) trapping pollutants.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Core Insight:</a:t>
            </a:r>
            <a:r>
              <a:rPr lang="en-US">
                <a:ea typeface="+mn-lt"/>
                <a:cs typeface="+mn-lt"/>
              </a:rPr>
              <a:t> Pollution peaks when emissions meet stagnant atmospheric conditions, regardless of station location.</a:t>
            </a:r>
            <a:endParaRPr lang="en-US"/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b="1">
                <a:ea typeface="+mn-lt"/>
                <a:cs typeface="+mn-lt"/>
              </a:rPr>
              <a:t>Next Steps: Week 4 (Meteorological Conditioning)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Wind-Rose Analysis:</a:t>
            </a:r>
            <a:r>
              <a:rPr lang="en-US">
                <a:ea typeface="+mn-lt"/>
                <a:cs typeface="+mn-lt"/>
              </a:rPr>
              <a:t> Transitioning from </a:t>
            </a:r>
            <a:r>
              <a:rPr lang="en-US" i="1">
                <a:ea typeface="+mn-lt"/>
                <a:cs typeface="+mn-lt"/>
              </a:rPr>
              <a:t>When</a:t>
            </a:r>
            <a:r>
              <a:rPr lang="en-US">
                <a:ea typeface="+mn-lt"/>
                <a:cs typeface="+mn-lt"/>
              </a:rPr>
              <a:t> it happens to </a:t>
            </a:r>
            <a:r>
              <a:rPr lang="en-US" i="1">
                <a:ea typeface="+mn-lt"/>
                <a:cs typeface="+mn-lt"/>
              </a:rPr>
              <a:t>Where</a:t>
            </a:r>
            <a:r>
              <a:rPr lang="en-US">
                <a:ea typeface="+mn-lt"/>
                <a:cs typeface="+mn-lt"/>
              </a:rPr>
              <a:t> it comes from.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Source Tracking:</a:t>
            </a:r>
            <a:r>
              <a:rPr lang="en-US">
                <a:ea typeface="+mn-lt"/>
                <a:cs typeface="+mn-lt"/>
              </a:rPr>
              <a:t> Mapping PM_2.5 against wind speed and direction.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Cluster Analysis:</a:t>
            </a:r>
            <a:r>
              <a:rPr lang="en-US">
                <a:ea typeface="+mn-lt"/>
                <a:cs typeface="+mn-lt"/>
              </a:rPr>
              <a:t> Identifying if specific wind corridors (e.g., North-Westerly) are the primary drivers of the seasonal spikes found in Week 3.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0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720C0-902A-1918-C961-48796AEA1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4 – Meteorological Conditioning &amp; Transport Diagnostics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44C667-292C-C02F-2B28-402E5BBDD752}"/>
              </a:ext>
            </a:extLst>
          </p:cNvPr>
          <p:cNvSpPr txBox="1"/>
          <p:nvPr/>
        </p:nvSpPr>
        <p:spPr>
          <a:xfrm>
            <a:off x="2035277" y="2212258"/>
            <a:ext cx="97339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Objective: Diagnose whether extreme PM₂.₅ events are driven by:</a:t>
            </a:r>
          </a:p>
          <a:p>
            <a:pPr marL="3028950" lvl="6" indent="-285750">
              <a:buFont typeface="Wingdings" panose="05000000000000000000" pitchFamily="2" charset="2"/>
              <a:buChar char="Ø"/>
            </a:pPr>
            <a:r>
              <a:rPr lang="en-US" dirty="0"/>
              <a:t>Ventilation suppression (low wind speeds)</a:t>
            </a:r>
          </a:p>
          <a:p>
            <a:pPr marL="3028950" lvl="6" indent="-285750">
              <a:buFont typeface="Wingdings" panose="05000000000000000000" pitchFamily="2" charset="2"/>
              <a:buChar char="Ø"/>
            </a:pPr>
            <a:r>
              <a:rPr lang="en-US" dirty="0"/>
              <a:t> Directional transport corridors</a:t>
            </a:r>
          </a:p>
          <a:p>
            <a:pPr marL="3028950" lvl="6" indent="-285750">
              <a:buFont typeface="Wingdings" panose="05000000000000000000" pitchFamily="2" charset="2"/>
              <a:buChar char="Ø"/>
            </a:pPr>
            <a:r>
              <a:rPr lang="en-US" dirty="0"/>
              <a:t>Or a combination of both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Methodology: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Regional segmentation (4 zones)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Percentile-based extreme filtering (Top 15%)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Wind speed comparison (Background vs Extreme)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Directional enrichment analysis (next step)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2319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6F8F-2BED-28FD-33B6-979BFF680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Regional Classification of 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42BC4-1371-3B90-B698-D9DE4EBB2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North → Haryana/NW transport belt(Rohini, </a:t>
            </a:r>
            <a:r>
              <a:rPr lang="en-IN" dirty="0" err="1"/>
              <a:t>Jahangirpuri</a:t>
            </a:r>
            <a:r>
              <a:rPr lang="en-IN" dirty="0"/>
              <a:t>, Ashok Vihar, </a:t>
            </a:r>
            <a:r>
              <a:rPr lang="en-IN" dirty="0" err="1"/>
              <a:t>Wazirpur</a:t>
            </a:r>
            <a:r>
              <a:rPr lang="en-IN" dirty="0"/>
              <a:t>, Narela, Bawana)</a:t>
            </a:r>
          </a:p>
          <a:p>
            <a:r>
              <a:rPr lang="en-IN" dirty="0"/>
              <a:t> East → UP/Trans-Yamuna corridor(IHBAS (Dilshad Garden), Anand Vihar, Patparganj, Vivek Vihar, Sonia Vihar, Pusa)</a:t>
            </a:r>
          </a:p>
          <a:p>
            <a:r>
              <a:rPr lang="en-IN" dirty="0"/>
              <a:t> South/Central → Urban accumulation core(Mandir Marg, Jawaharlal Nehru Stadium, Major Dhyan Chand National Stadium, RK Puram, Okhla Phase II, Nehru Nagar, Sri Aurobindo Marg, Dr. Karni Singh Shooting Range)</a:t>
            </a:r>
          </a:p>
          <a:p>
            <a:r>
              <a:rPr lang="en-IN" dirty="0"/>
              <a:t> West/SW → Rajasthan boundary &amp; industrial influence(</a:t>
            </a:r>
            <a:r>
              <a:rPr lang="en-IN" dirty="0" err="1"/>
              <a:t>hadipur</a:t>
            </a:r>
            <a:r>
              <a:rPr lang="en-IN" dirty="0"/>
              <a:t>, NSIT Dwarka, Punjabi Bagh, Dwarka Sector 8, Najafgarh, </a:t>
            </a:r>
            <a:r>
              <a:rPr lang="en-IN" dirty="0" err="1"/>
              <a:t>Mundka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8743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D9AC2-A909-FF6D-6C99-21B0B9B9E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Ventilation Suppression During Extreme Events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D199AB-2B31-9761-6024-BA0C6AC869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74" y="2153265"/>
            <a:ext cx="6297083" cy="3778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23AA17-59DC-5AEE-F2CF-51964B5CA7C8}"/>
              </a:ext>
            </a:extLst>
          </p:cNvPr>
          <p:cNvSpPr txBox="1"/>
          <p:nvPr/>
        </p:nvSpPr>
        <p:spPr>
          <a:xfrm>
            <a:off x="7413523" y="2064774"/>
            <a:ext cx="454250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Narrow" panose="020B0004020202020204" pitchFamily="34" charset="0"/>
              </a:rPr>
              <a:t>Wind speed decreases during extreme PM₂.₅ hours across most regions and seasons</a:t>
            </a:r>
          </a:p>
          <a:p>
            <a:r>
              <a:rPr lang="en-US" dirty="0">
                <a:latin typeface="Aptos Narrow" panose="020B0004020202020204" pitchFamily="34" charset="0"/>
              </a:rPr>
              <a:t>• Strongest suppression observed in </a:t>
            </a:r>
            <a:r>
              <a:rPr lang="en-US" b="1" dirty="0">
                <a:latin typeface="Aptos Narrow" panose="020B0004020202020204" pitchFamily="34" charset="0"/>
              </a:rPr>
              <a:t>Winter (≈21–33%)</a:t>
            </a:r>
            <a:endParaRPr lang="en-US" dirty="0">
              <a:latin typeface="Aptos Narrow" panose="020B0004020202020204" pitchFamily="34" charset="0"/>
            </a:endParaRPr>
          </a:p>
          <a:p>
            <a:r>
              <a:rPr lang="en-US" dirty="0">
                <a:latin typeface="Aptos Narrow" panose="020B0004020202020204" pitchFamily="34" charset="0"/>
              </a:rPr>
              <a:t>• Moderate suppression in </a:t>
            </a:r>
            <a:r>
              <a:rPr lang="en-US" b="1" dirty="0">
                <a:latin typeface="Aptos Narrow" panose="020B0004020202020204" pitchFamily="34" charset="0"/>
              </a:rPr>
              <a:t>Post-monsoon (≈16–26%)</a:t>
            </a:r>
            <a:endParaRPr lang="en-US" dirty="0">
              <a:latin typeface="Aptos Narrow" panose="020B0004020202020204" pitchFamily="34" charset="0"/>
            </a:endParaRPr>
          </a:p>
          <a:p>
            <a:r>
              <a:rPr lang="en-US" dirty="0">
                <a:latin typeface="Aptos Narrow" panose="020B0004020202020204" pitchFamily="34" charset="0"/>
              </a:rPr>
              <a:t>• Weaker but consistent suppression in </a:t>
            </a:r>
            <a:r>
              <a:rPr lang="en-US" b="1" dirty="0">
                <a:latin typeface="Aptos Narrow" panose="020B0004020202020204" pitchFamily="34" charset="0"/>
              </a:rPr>
              <a:t>Pre-monsoon (≈15–23%)</a:t>
            </a:r>
            <a:endParaRPr lang="en-US" dirty="0">
              <a:latin typeface="Aptos Narrow" panose="020B0004020202020204" pitchFamily="34" charset="0"/>
            </a:endParaRPr>
          </a:p>
          <a:p>
            <a:r>
              <a:rPr lang="en-US" dirty="0">
                <a:latin typeface="Aptos Narrow" panose="020B0004020202020204" pitchFamily="34" charset="0"/>
              </a:rPr>
              <a:t>• Minimal or negligible suppression during </a:t>
            </a:r>
            <a:r>
              <a:rPr lang="en-US" b="1" dirty="0">
                <a:latin typeface="Aptos Narrow" panose="020B0004020202020204" pitchFamily="34" charset="0"/>
              </a:rPr>
              <a:t>Monsoon</a:t>
            </a:r>
            <a:endParaRPr lang="en-US" dirty="0">
              <a:latin typeface="Aptos Narrow" panose="020B0004020202020204" pitchFamily="34" charset="0"/>
            </a:endParaRPr>
          </a:p>
          <a:p>
            <a:r>
              <a:rPr lang="en-US" dirty="0">
                <a:latin typeface="Aptos Narrow" panose="020B0004020202020204" pitchFamily="34" charset="0"/>
              </a:rPr>
              <a:t>• Seasonal influence is stronger than regional differences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8807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 Mechanism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Winter: Strong ventilation suppression across all regions</a:t>
            </a:r>
          </a:p>
          <a:p>
            <a:r>
              <a:t>• Post-Monsoon: Mixed stagnation + directional reinforcement</a:t>
            </a:r>
          </a:p>
          <a:p>
            <a:r>
              <a:t>• Pre-Monsoon: Transitional regime (dust + moderate suppression)</a:t>
            </a:r>
          </a:p>
          <a:p>
            <a:r>
              <a:t>• Monsoon: Weak meteorological control</a:t>
            </a:r>
          </a:p>
          <a:p>
            <a:endParaRPr/>
          </a:p>
          <a:p>
            <a:r>
              <a:t>Conclusion: Seasonal meteorology dominates extreme PM2.5 formation more than spatial location.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27DA2-923C-4B3C-18C6-E385B3D29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4285" y="386080"/>
            <a:ext cx="8911687" cy="2052320"/>
          </a:xfrm>
        </p:spPr>
        <p:txBody>
          <a:bodyPr>
            <a:normAutofit fontScale="90000"/>
          </a:bodyPr>
          <a:lstStyle/>
          <a:p>
            <a:r>
              <a:rPr lang="en-US" dirty="0"/>
              <a:t>PDF-based Transport Diagnostics of Extreme PM₂.₅ (DJF 2021–2024)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Regional analysis for Delhi: North, East, South_Central, West_SW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F8E92-1D9B-C101-DFF6-F15F6A9FC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4080" y="2438400"/>
            <a:ext cx="9340531" cy="3759200"/>
          </a:xfrm>
        </p:spPr>
        <p:txBody>
          <a:bodyPr>
            <a:normAutofit fontScale="92500" lnSpcReduction="10000"/>
          </a:bodyPr>
          <a:lstStyle/>
          <a:p>
            <a:r>
              <a:rPr lang="en-US"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Methods: KDE-based PDFs, top-15% percentile extremes, directional enrichment (extreme/background)</a:t>
            </a:r>
          </a:p>
          <a:p>
            <a:r>
              <a:rPr lang="en-US"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Objective: “Diagnose whether extreme PM₂.₅ events are driven by ventilation suppression or directional transport corridors.”</a:t>
            </a:r>
          </a:p>
          <a:p>
            <a:pPr marL="0" indent="0">
              <a:buNone/>
            </a:pPr>
            <a:endParaRPr lang="en-US" sz="16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Hourly PM₂.₅ &amp; wind (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dir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, speed) from cleaned station dataset (2021–2024).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Regions: North, East, South_Central, West_SW (list stations or refer to appendix).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Months: Dec–Jan–Feb (DJF), 4 years (2021–2024).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Approach: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Build region-level hourly stacks (equal station weighting).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Compute PM₂.₅ PDFs (KDE) for each region per year/month.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Define extremes as top 15% PM₂.₅ hours (85th percentile).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Directional enrichment = (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freq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during extreme) ÷ (background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freq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).</a:t>
            </a:r>
          </a:p>
          <a:p>
            <a:pPr marL="0" indent="0">
              <a:buNone/>
            </a:pPr>
            <a:endParaRPr lang="en-IN" sz="2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25203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BA41F-182D-357D-7201-165604BC0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-40256"/>
            <a:ext cx="8911687" cy="667110"/>
          </a:xfrm>
        </p:spPr>
        <p:txBody>
          <a:bodyPr/>
          <a:lstStyle/>
          <a:p>
            <a:r>
              <a:rPr lang="en-IN" dirty="0"/>
              <a:t>Year 2021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B9DE143-CB29-D771-FE22-EBC7F55E7F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854"/>
            <a:ext cx="4229819" cy="31277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1CC57D-9F60-4A8C-BB81-BE543DC50F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7328" y="626854"/>
            <a:ext cx="4094671" cy="31277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ED8952-CF8C-6141-71F8-1F1830EF29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819" y="626854"/>
            <a:ext cx="3867509" cy="3127726"/>
          </a:xfrm>
          <a:prstGeom prst="rect">
            <a:avLst/>
          </a:prstGeom>
        </p:spPr>
      </p:pic>
      <p:sp>
        <p:nvSpPr>
          <p:cNvPr id="19" name="Rectangle 3">
            <a:extLst>
              <a:ext uri="{FF2B5EF4-FFF2-40B4-BE49-F238E27FC236}">
                <a16:creationId xmlns:a16="http://schemas.microsoft.com/office/drawing/2014/main" id="{14BD020E-9703-4A36-FA09-F3DBA150F39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95521" y="4520043"/>
            <a:ext cx="1099966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3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–North region has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probability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very high PM₂.₅ in Dec 2021 (more extreme events). Could be weaker ventilation (stagnation) or stronger source + transport into North.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–West/East show concentrated moderate pollution, while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North has higher probability of extremes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suggests transport from other regions combined with local stagnation.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Same pattern: North more extreme-prone; West/East more moderate but frequent pollution.</a:t>
            </a:r>
          </a:p>
        </p:txBody>
      </p:sp>
    </p:spTree>
    <p:extLst>
      <p:ext uri="{BB962C8B-B14F-4D97-AF65-F5344CB8AC3E}">
        <p14:creationId xmlns:p14="http://schemas.microsoft.com/office/powerpoint/2010/main" val="1040632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E1A9E-1057-4EE4-FDD8-0A3273EA3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4FC77-5004-080B-3923-E4AFDD6CA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-40256"/>
            <a:ext cx="8911687" cy="667110"/>
          </a:xfrm>
        </p:spPr>
        <p:txBody>
          <a:bodyPr/>
          <a:lstStyle/>
          <a:p>
            <a:r>
              <a:rPr lang="en-IN" dirty="0"/>
              <a:t>Year 2022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5E838D-982D-CE65-8CA1-8D21601A7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6" y="638944"/>
            <a:ext cx="4186685" cy="31277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2A82F2-ED92-0B27-F0D2-BE65872A67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315" y="638944"/>
            <a:ext cx="4186685" cy="300140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3850FAF-300E-3149-B561-BF488307F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686" y="638945"/>
            <a:ext cx="3818630" cy="3127726"/>
          </a:xfrm>
          <a:prstGeom prst="rect">
            <a:avLst/>
          </a:prstGeom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7EC403E5-5E39-6D5D-365B-AB783CD3F78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29416" y="4160619"/>
            <a:ext cx="1016191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3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–More homogeneous pollution regimes across regions in Dec 2022 – possibly due to a region-wide meteorological pattern (e.g., synoptic stagnation or uniform emissions/transport).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–January 2022 shows less stark inter-regional contrast than 2021.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–Regional differences are reduced in 2022 (less directional dominance or more similar emissions).</a:t>
            </a:r>
          </a:p>
        </p:txBody>
      </p:sp>
    </p:spTree>
    <p:extLst>
      <p:ext uri="{BB962C8B-B14F-4D97-AF65-F5344CB8AC3E}">
        <p14:creationId xmlns:p14="http://schemas.microsoft.com/office/powerpoint/2010/main" val="19647735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80CF6-3CB2-2FF5-15E6-319DA35A5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3169F-235E-FA0B-39D2-97BD4BC55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-40256"/>
            <a:ext cx="8911687" cy="667110"/>
          </a:xfrm>
        </p:spPr>
        <p:txBody>
          <a:bodyPr/>
          <a:lstStyle/>
          <a:p>
            <a:r>
              <a:rPr lang="en-IN" dirty="0"/>
              <a:t>Year 2023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95D5C5-F198-209A-63ED-E18174A76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48" y="626854"/>
            <a:ext cx="4094671" cy="3127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02D0AB-4D09-DE12-F56D-0CDD1C1F1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1064" y="626854"/>
            <a:ext cx="4180936" cy="30845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05E048-1226-068E-48E0-9D6CBFC5D0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819" y="626854"/>
            <a:ext cx="3838755" cy="3084501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43D93E97-7E22-D4AD-4108-37260B2AD78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44104" y="4014670"/>
            <a:ext cx="1128335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3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–West_SW shows frequent moderate events; North still has moderate extremes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–Jan 2023 again relatively uniform; suggests common synoptic     forcing.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–Feb 2023: East/West often experience frequent moderate pollution but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North remains more likely to experience high extremes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4003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9F500-E246-4F4F-D6E1-B80335FA8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B7FDC-48C9-A0F9-9ACC-7932D6AB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-40256"/>
            <a:ext cx="8911687" cy="667110"/>
          </a:xfrm>
        </p:spPr>
        <p:txBody>
          <a:bodyPr/>
          <a:lstStyle/>
          <a:p>
            <a:r>
              <a:rPr lang="en-IN" dirty="0"/>
              <a:t>Year 2024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0A00BFE-48FA-5299-A6CA-5619592BC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94" y="626853"/>
            <a:ext cx="4155825" cy="31277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855FC2-02FD-E041-620E-10F9DD571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818" y="626852"/>
            <a:ext cx="4155825" cy="31277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2DE6C4-265D-ED7F-E19B-A09BA1E6CD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643" y="626852"/>
            <a:ext cx="3806357" cy="3127727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2C4C3EA7-17B8-66C4-B7EE-1EE2986E55C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65824" y="4023982"/>
            <a:ext cx="1163991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3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–West_SW frequently experiences moderate events, South_Central sometimes slightly elevated.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–Jan 2024 shows West_SW dominated by many moderate events; extremes less frequent there.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Feb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–Again pattern recurs: West_SW/East often concentrated moderate events; North more tail-heavy (extreme probability).</a:t>
            </a:r>
          </a:p>
        </p:txBody>
      </p:sp>
    </p:spTree>
    <p:extLst>
      <p:ext uri="{BB962C8B-B14F-4D97-AF65-F5344CB8AC3E}">
        <p14:creationId xmlns:p14="http://schemas.microsoft.com/office/powerpoint/2010/main" val="39797340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7B418-725B-83D7-AEFD-7B4675095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Overall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14391-0D9A-3088-BC6D-365EFA1CF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Across most years and months </a:t>
            </a:r>
            <a:r>
              <a:rPr lang="en-US" b="1" dirty="0"/>
              <a:t>North</a:t>
            </a:r>
            <a:r>
              <a:rPr lang="en-US" dirty="0"/>
              <a:t> frequently has a </a:t>
            </a:r>
            <a:r>
              <a:rPr lang="en-US" b="1" dirty="0"/>
              <a:t>broader distribution and heavier right tail</a:t>
            </a:r>
            <a:r>
              <a:rPr lang="en-US" dirty="0"/>
              <a:t> → higher probability of extreme PM₂.₅ events.</a:t>
            </a:r>
          </a:p>
          <a:p>
            <a:r>
              <a:rPr lang="en-US" b="1" dirty="0"/>
              <a:t>West_SW</a:t>
            </a:r>
            <a:r>
              <a:rPr lang="en-US" dirty="0"/>
              <a:t> often shows </a:t>
            </a:r>
            <a:r>
              <a:rPr lang="en-US" b="1" dirty="0"/>
              <a:t>sharp, high modal peaks at lower PM</a:t>
            </a:r>
            <a:r>
              <a:rPr lang="en-US" dirty="0"/>
              <a:t> (frequent moderate pollution), especially in Jan/Feb (consistent across years).</a:t>
            </a:r>
          </a:p>
          <a:p>
            <a:r>
              <a:rPr lang="en-US" b="1" dirty="0"/>
              <a:t>East</a:t>
            </a:r>
            <a:r>
              <a:rPr lang="en-US" dirty="0"/>
              <a:t> and </a:t>
            </a:r>
            <a:r>
              <a:rPr lang="en-US" b="1" dirty="0"/>
              <a:t>South_Central</a:t>
            </a:r>
            <a:r>
              <a:rPr lang="en-US" dirty="0"/>
              <a:t> are usually intermediate — sometimes overlapping closely depending on year/month.</a:t>
            </a:r>
          </a:p>
          <a:p>
            <a:r>
              <a:rPr lang="en-US" dirty="0"/>
              <a:t>When all four curves cluster closely (e.g., parts of 2022), this suggests </a:t>
            </a:r>
            <a:r>
              <a:rPr lang="en-US" i="1" dirty="0"/>
              <a:t>widespread synoptic forcing</a:t>
            </a:r>
            <a:r>
              <a:rPr lang="en-US" dirty="0"/>
              <a:t> rather than a single transport corridor dominating.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3888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16A9D-C9DE-5F30-F151-44783BE0E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027" y="74763"/>
            <a:ext cx="9819586" cy="2035834"/>
          </a:xfrm>
        </p:spPr>
        <p:txBody>
          <a:bodyPr>
            <a:normAutofit/>
          </a:bodyPr>
          <a:lstStyle/>
          <a:p>
            <a:r>
              <a:rPr lang="en-IN" dirty="0"/>
              <a:t>Directional Enrichment plots</a:t>
            </a:r>
            <a:br>
              <a:rPr lang="en-IN" dirty="0"/>
            </a:br>
            <a:r>
              <a:rPr lang="en-US" sz="1800" dirty="0"/>
              <a:t>(Enrichment = fraction of wind directions observed during </a:t>
            </a:r>
            <a:r>
              <a:rPr lang="en-US" sz="1800" i="1" dirty="0"/>
              <a:t>extreme</a:t>
            </a:r>
            <a:r>
              <a:rPr lang="en-US" sz="1800" dirty="0"/>
              <a:t> hours ÷ fraction in the background; values &gt;1 indicate a sector is </a:t>
            </a:r>
            <a:r>
              <a:rPr lang="en-US" sz="1800" b="1" dirty="0"/>
              <a:t>over-represented</a:t>
            </a:r>
            <a:r>
              <a:rPr lang="en-US" sz="1800" dirty="0"/>
              <a:t> during extremes.)</a:t>
            </a: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60250-C27B-0A8A-EF43-CD30C56AE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4098" y="1731034"/>
            <a:ext cx="4810514" cy="418018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2400" b="1" u="sng" dirty="0"/>
              <a:t>EAST REGION</a:t>
            </a:r>
          </a:p>
          <a:p>
            <a:pPr marL="0" indent="0" algn="ctr">
              <a:buNone/>
            </a:pPr>
            <a:endParaRPr lang="en-IN" sz="2400" b="1" u="sng" dirty="0"/>
          </a:p>
          <a:p>
            <a:pPr marL="0" indent="0" algn="ctr">
              <a:buNone/>
            </a:pPr>
            <a:r>
              <a:rPr lang="en-US" sz="2400" b="1" dirty="0"/>
              <a:t>Interpretation</a:t>
            </a:r>
            <a:r>
              <a:rPr lang="en-US" sz="2400" dirty="0"/>
              <a:t>: Northerly winds (N) and southerly (S) are slightly enriched during extreme PM₂.₅ events in East. So episodes there commonly occur when the wind has a northerly component and sometimes southerly inflow — </a:t>
            </a:r>
            <a:r>
              <a:rPr lang="en-US" sz="2400" i="1" dirty="0"/>
              <a:t>mixed transport influence</a:t>
            </a:r>
            <a:r>
              <a:rPr lang="en-US" sz="2400" dirty="0"/>
              <a:t>.</a:t>
            </a:r>
            <a:endParaRPr lang="en-IN" sz="2400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DE5AE2-E4C3-ECED-E293-8CC805564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89" y="1953506"/>
            <a:ext cx="6400813" cy="411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9888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D43AF-7E1F-A441-171F-427345468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NORTH REGION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AB0E30-46F9-2EB9-1C67-52920F8F3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26" y="1679275"/>
            <a:ext cx="6103665" cy="40946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9EE0FB-7881-5254-529F-F1807029DD1E}"/>
              </a:ext>
            </a:extLst>
          </p:cNvPr>
          <p:cNvSpPr txBox="1"/>
          <p:nvPr/>
        </p:nvSpPr>
        <p:spPr>
          <a:xfrm>
            <a:off x="6533072" y="1794294"/>
            <a:ext cx="56589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Interpretation</a:t>
            </a:r>
            <a:r>
              <a:rPr lang="en-US" sz="2400" dirty="0"/>
              <a:t>: Northerly sector is </a:t>
            </a:r>
            <a:r>
              <a:rPr lang="en-US" sz="2400" i="1" dirty="0"/>
              <a:t>under-represented</a:t>
            </a:r>
            <a:r>
              <a:rPr lang="en-US" sz="2400" dirty="0"/>
              <a:t> during extremes (N 0.44), while </a:t>
            </a:r>
            <a:r>
              <a:rPr lang="en-US" sz="2400" b="1" dirty="0"/>
              <a:t>E and SE</a:t>
            </a:r>
            <a:r>
              <a:rPr lang="en-US" sz="2400" dirty="0"/>
              <a:t> and NE are enriched (≈1.1–1.28). This implies extremes in the North region are </a:t>
            </a:r>
            <a:r>
              <a:rPr lang="en-US" sz="2400" b="1" dirty="0"/>
              <a:t>associated with easterly/SE winds</a:t>
            </a:r>
            <a:r>
              <a:rPr lang="en-US" sz="2400" dirty="0"/>
              <a:t> — i.e., pollution being transported into northern stations from east/southeast corridors (possibly from urban core or Trans-Yamuna influences).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879428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C34A-28CC-3CBF-3E46-C3A3D8450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SOUTH_CENTRAL REGION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E8BCD7-7F6F-C51D-4EE4-93BC2A358D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14" y="1702279"/>
            <a:ext cx="6220420" cy="3778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E3E130-2FD2-61F5-008D-4ADC12C5BBC9}"/>
              </a:ext>
            </a:extLst>
          </p:cNvPr>
          <p:cNvSpPr txBox="1"/>
          <p:nvPr/>
        </p:nvSpPr>
        <p:spPr>
          <a:xfrm>
            <a:off x="6711350" y="1771291"/>
            <a:ext cx="54806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Interpretation</a:t>
            </a:r>
            <a:r>
              <a:rPr lang="en-US" sz="2400" dirty="0"/>
              <a:t>: </a:t>
            </a:r>
            <a:r>
              <a:rPr lang="en-US" sz="2400" b="1" dirty="0"/>
              <a:t>Strong enrichment from the North (1.86)</a:t>
            </a:r>
            <a:r>
              <a:rPr lang="en-US" sz="2400" dirty="0"/>
              <a:t> — very likely that </a:t>
            </a:r>
            <a:r>
              <a:rPr lang="en-US" sz="2400" b="1" dirty="0"/>
              <a:t>northern transport</a:t>
            </a:r>
            <a:r>
              <a:rPr lang="en-US" sz="2400" dirty="0"/>
              <a:t> (Haryana/NW belt) strongly contributes to extremes in South_Central. Also NW is enriched. This is a clear </a:t>
            </a:r>
            <a:r>
              <a:rPr lang="en-US" sz="2400" i="1" dirty="0"/>
              <a:t>transport-dominated</a:t>
            </a:r>
            <a:r>
              <a:rPr lang="en-US" sz="2400" dirty="0"/>
              <a:t> signature from the north.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080614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7902-564F-D77F-EFC4-55DD03561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WEST_SW REGION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530F03-D18B-1479-84C1-6AEBB6D1E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21" y="1696528"/>
            <a:ext cx="6101565" cy="41176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50B47E-0307-B2CF-58BD-45D77B3B104A}"/>
              </a:ext>
            </a:extLst>
          </p:cNvPr>
          <p:cNvSpPr txBox="1"/>
          <p:nvPr/>
        </p:nvSpPr>
        <p:spPr>
          <a:xfrm>
            <a:off x="6487064" y="1905000"/>
            <a:ext cx="53771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Interpretation</a:t>
            </a:r>
            <a:r>
              <a:rPr lang="en-US" sz="2400" dirty="0"/>
              <a:t>: Strong enrichment from </a:t>
            </a:r>
            <a:r>
              <a:rPr lang="en-US" sz="2400" b="1" dirty="0"/>
              <a:t>SW, S, SE, NE</a:t>
            </a:r>
            <a:r>
              <a:rPr lang="en-US" sz="2400" dirty="0"/>
              <a:t> (SW = 1.37 highest) — this indicates extremes at West_SW are associated with </a:t>
            </a:r>
            <a:r>
              <a:rPr lang="en-US" sz="2400" b="1" dirty="0"/>
              <a:t>southerly–southwesterly</a:t>
            </a:r>
            <a:r>
              <a:rPr lang="en-US" sz="2400" dirty="0"/>
              <a:t> winds (likely bringing in pollution from industrial/aggregated emission sources to the southwest/west). NW &amp; N under-represented.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787330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AE1CE-EA88-64DF-7A0C-DBE442527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OVERALL ENRICHMENT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3E9F8-3603-4C6D-3331-89281AE07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South_Central</a:t>
            </a:r>
            <a:r>
              <a:rPr lang="en-US" dirty="0"/>
              <a:t>: most clearly dominated by </a:t>
            </a:r>
            <a:r>
              <a:rPr lang="en-US" b="1" dirty="0"/>
              <a:t>northerly transport</a:t>
            </a:r>
            <a:r>
              <a:rPr lang="en-US" dirty="0"/>
              <a:t> during extremes (N = 1.86).</a:t>
            </a:r>
          </a:p>
          <a:p>
            <a:r>
              <a:rPr lang="en-US" b="1" dirty="0"/>
              <a:t>West_SW</a:t>
            </a:r>
            <a:r>
              <a:rPr lang="en-US" dirty="0"/>
              <a:t>: strongly dominated by </a:t>
            </a:r>
            <a:r>
              <a:rPr lang="en-US" b="1" dirty="0"/>
              <a:t>southwest / southerly transport</a:t>
            </a:r>
            <a:r>
              <a:rPr lang="en-US" dirty="0"/>
              <a:t> (SW 1.37, S 1.33).</a:t>
            </a:r>
          </a:p>
          <a:p>
            <a:r>
              <a:rPr lang="en-US" b="1" dirty="0"/>
              <a:t>North</a:t>
            </a:r>
            <a:r>
              <a:rPr lang="en-US" dirty="0"/>
              <a:t>: extremes in this region correlate with </a:t>
            </a:r>
            <a:r>
              <a:rPr lang="en-US" b="1" dirty="0"/>
              <a:t>E/SE winds</a:t>
            </a:r>
            <a:r>
              <a:rPr lang="en-US" dirty="0"/>
              <a:t> (transport from east / Trans-Yamuna corridor).</a:t>
            </a:r>
          </a:p>
          <a:p>
            <a:r>
              <a:rPr lang="en-US" b="1" dirty="0"/>
              <a:t>East</a:t>
            </a:r>
            <a:r>
              <a:rPr lang="en-US" dirty="0"/>
              <a:t>: mixed signals but </a:t>
            </a:r>
            <a:r>
              <a:rPr lang="en-US" b="1" dirty="0"/>
              <a:t>N</a:t>
            </a:r>
            <a:r>
              <a:rPr lang="en-US" dirty="0"/>
              <a:t> shows enrichment (N = 1.37) — Northern transport matters there, too.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enrichment numbers directly answer the question: </a:t>
            </a:r>
            <a:r>
              <a:rPr lang="en-US" b="1" dirty="0"/>
              <a:t>which direction(s) dominate extreme PM₂.₅ events at each region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1892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5FA18-7F99-5FDD-7EEA-FA57336CF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Mechanistic interpretation (transport vs ventilation)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4759C-7C11-67D7-9FF9-E1A4FA67A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275" y="2133599"/>
            <a:ext cx="10138914" cy="4295955"/>
          </a:xfrm>
        </p:spPr>
        <p:txBody>
          <a:bodyPr>
            <a:normAutofit/>
          </a:bodyPr>
          <a:lstStyle/>
          <a:p>
            <a:r>
              <a:rPr lang="en-US" dirty="0"/>
              <a:t>Where enrichment ratio for one or more sectors is </a:t>
            </a:r>
            <a:r>
              <a:rPr lang="en-US" b="1" dirty="0"/>
              <a:t>&gt;1.2–1.3</a:t>
            </a:r>
            <a:r>
              <a:rPr lang="en-US" dirty="0"/>
              <a:t> (e.g., South_Central N = 1.86; West_SW SW = 1.37), the extreme events are </a:t>
            </a:r>
            <a:r>
              <a:rPr lang="en-US" b="1" dirty="0"/>
              <a:t>strongly associated with directional transport</a:t>
            </a:r>
            <a:r>
              <a:rPr lang="en-US" dirty="0"/>
              <a:t> from those sectors — i.e., air mass advection bringing pollution to the region.</a:t>
            </a:r>
          </a:p>
          <a:p>
            <a:r>
              <a:rPr lang="en-US" dirty="0"/>
              <a:t>Where PDFs show </a:t>
            </a:r>
            <a:r>
              <a:rPr lang="en-US" b="1" dirty="0"/>
              <a:t>heavy right tails</a:t>
            </a:r>
            <a:r>
              <a:rPr lang="en-US" dirty="0"/>
              <a:t> (e.g., North in many months), this suggests either </a:t>
            </a:r>
            <a:r>
              <a:rPr lang="en-US" b="1" dirty="0"/>
              <a:t>local accumulation (stagnation)</a:t>
            </a:r>
            <a:r>
              <a:rPr lang="en-US" dirty="0"/>
              <a:t> or </a:t>
            </a:r>
            <a:r>
              <a:rPr lang="en-US" b="1" dirty="0"/>
              <a:t>advection of already-polluted air masses</a:t>
            </a:r>
            <a:r>
              <a:rPr lang="en-US" dirty="0"/>
              <a:t>; enrichment plots tell which direction these air masses come from. For instance, North’s heavy tail + enrichment for E/SE implies that extremes there are likely driven by </a:t>
            </a:r>
            <a:r>
              <a:rPr lang="en-US" b="1" dirty="0"/>
              <a:t>directional inflow from the east/southeast</a:t>
            </a:r>
            <a:r>
              <a:rPr lang="en-US" dirty="0"/>
              <a:t> combined with meteorological conditions that limit dispersion.</a:t>
            </a:r>
          </a:p>
          <a:p>
            <a:r>
              <a:rPr lang="en-US" dirty="0"/>
              <a:t>When all region PDFs overlap tightly (e.g., Dec 2022), it likely reflects </a:t>
            </a:r>
            <a:r>
              <a:rPr lang="en-US" b="1" dirty="0"/>
              <a:t>synoptic-scale conditions</a:t>
            </a:r>
            <a:r>
              <a:rPr lang="en-US" dirty="0"/>
              <a:t> (widespread stagnation or uniform pollution) rather than a single transport corridor.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53913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66F54"/>
                </a:solidFill>
                <a:latin typeface="Century Gothic"/>
              </a:rPr>
              <a:t>Upgraded Stagnation Index: India-ASI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2324" y="914400"/>
            <a:ext cx="10972800" cy="328295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b="0" dirty="0">
                <a:solidFill>
                  <a:srgbClr val="766F54"/>
                </a:solidFill>
                <a:latin typeface="Century Gothic"/>
              </a:rPr>
              <a:t>Inspired by Zhou et al. (2024), Nature Communications, 15, 7448</a:t>
            </a:r>
          </a:p>
        </p:txBody>
      </p:sp>
      <p:sp>
        <p:nvSpPr>
          <p:cNvPr id="4" name="Rectangle 3"/>
          <p:cNvSpPr/>
          <p:nvPr/>
        </p:nvSpPr>
        <p:spPr>
          <a:xfrm>
            <a:off x="196645" y="1289305"/>
            <a:ext cx="11995355" cy="45719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326717"/>
              </p:ext>
            </p:extLst>
          </p:nvPr>
        </p:nvGraphicFramePr>
        <p:xfrm>
          <a:off x="196645" y="1390777"/>
          <a:ext cx="11995355" cy="25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0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6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01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Condition</a:t>
                      </a:r>
                    </a:p>
                  </a:txBody>
                  <a:tcPr marL="25400" marR="25400" marT="25400" marB="25400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Threshold</a:t>
                      </a:r>
                    </a:p>
                  </a:txBody>
                  <a:tcPr marL="25400" marR="25400" marT="25400" marB="25400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Physical Meaning</a:t>
                      </a:r>
                    </a:p>
                  </a:txBody>
                  <a:tcPr marL="25400" marR="25400" marT="25400" marB="25400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Source</a:t>
                      </a:r>
                    </a:p>
                  </a:txBody>
                  <a:tcPr marL="25400" marR="25400" marT="25400" marB="25400">
                    <a:solidFill>
                      <a:srgbClr val="A53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956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463E2D"/>
                          </a:solidFill>
                          <a:latin typeface="Century Gothic"/>
                        </a:rPr>
                        <a:t>1. Calm Wind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WS10m &lt; 3.2 m/s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Pollution cannot disperse horizontally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NOAA ASI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(Wang &amp; Angell 1999)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9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2. Temperature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Inversion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T925hPa - T2m &gt; 0 K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463E2D"/>
                          </a:solidFill>
                          <a:latin typeface="Century Gothic"/>
                        </a:rPr>
                        <a:t>Warm air aloft acts as a lid;</a:t>
                      </a:r>
                    </a:p>
                    <a:p>
                      <a:pPr algn="ctr"/>
                      <a:r>
                        <a:rPr sz="1000" b="0" dirty="0">
                          <a:solidFill>
                            <a:srgbClr val="463E2D"/>
                          </a:solidFill>
                          <a:latin typeface="Century Gothic"/>
                        </a:rPr>
                        <a:t>pollution cannot escape vertically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India-ASI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(Zhou et al. 2024)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9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3. No Rain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463E2D"/>
                          </a:solidFill>
                          <a:latin typeface="Century Gothic"/>
                        </a:rPr>
                        <a:t>Precip</a:t>
                      </a:r>
                      <a:r>
                        <a:rPr sz="1000" b="0" dirty="0">
                          <a:solidFill>
                            <a:srgbClr val="463E2D"/>
                          </a:solidFill>
                          <a:latin typeface="Century Gothic"/>
                        </a:rPr>
                        <a:t> &lt; 1 mm/day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463E2D"/>
                          </a:solidFill>
                          <a:latin typeface="Century Gothic"/>
                        </a:rPr>
                        <a:t>No wet scavenging (washout)</a:t>
                      </a:r>
                    </a:p>
                    <a:p>
                      <a:pPr algn="ctr"/>
                      <a:r>
                        <a:rPr sz="1000" b="0" dirty="0">
                          <a:solidFill>
                            <a:srgbClr val="463E2D"/>
                          </a:solidFill>
                          <a:latin typeface="Century Gothic"/>
                        </a:rPr>
                        <a:t>of particulate matter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463E2D"/>
                          </a:solidFill>
                          <a:latin typeface="Century Gothic"/>
                        </a:rPr>
                        <a:t>NOAA ASI</a:t>
                      </a:r>
                    </a:p>
                    <a:p>
                      <a:pPr algn="ctr"/>
                      <a:r>
                        <a:rPr sz="1000" b="0" dirty="0">
                          <a:solidFill>
                            <a:srgbClr val="463E2D"/>
                          </a:solidFill>
                          <a:latin typeface="Century Gothic"/>
                        </a:rPr>
                        <a:t>(Wang &amp; Angell 1999)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1948" y="4412034"/>
            <a:ext cx="10972800" cy="328295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b="1" dirty="0">
                <a:solidFill>
                  <a:srgbClr val="463E2D"/>
                </a:solidFill>
                <a:latin typeface="Century Gothic"/>
              </a:rPr>
              <a:t>A day is classified as stagnant ONLY when ALL THREE conditions are met simultaneously.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1948" y="5321808"/>
            <a:ext cx="10972800" cy="8686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50" b="0">
                <a:solidFill>
                  <a:srgbClr val="463E2D"/>
                </a:solidFill>
                <a:latin typeface="Century Gothic"/>
              </a:rPr>
              <a:t>Key improvement over old method: The NOAA index uses 500 hPa wind speed for vertical dispersion, but Zhou et al. showed this is poorly correlated with PM₂.₅ over India (R = −0.14). The T925–T2m inversion criterion correlates much better (R ≥ 0.63).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126480"/>
            <a:ext cx="109728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100" b="0">
                <a:solidFill>
                  <a:srgbClr val="766F54"/>
                </a:solidFill>
                <a:latin typeface="Century Gothic"/>
              </a:rPr>
              <a:t>Data: ERA5 reanalysis (0.25°), 2×2 grid cells over Delhi, 2021–2024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766F54"/>
                </a:solidFill>
                <a:latin typeface="Century Gothic"/>
              </a:rPr>
              <a:t>India-ASI: Condition Breakdown &amp; Climatology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804672"/>
            <a:ext cx="14874240" cy="36576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207361"/>
              </p:ext>
            </p:extLst>
          </p:nvPr>
        </p:nvGraphicFramePr>
        <p:xfrm>
          <a:off x="196646" y="1208876"/>
          <a:ext cx="11995355" cy="2011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45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4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45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7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932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Month</a:t>
                      </a:r>
                    </a:p>
                  </a:txBody>
                  <a:tcPr marL="25400" marR="25400" marT="25400" marB="25400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Calm Wind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(ws10m&lt;3.2)</a:t>
                      </a:r>
                    </a:p>
                  </a:txBody>
                  <a:tcPr marL="25400" marR="25400" marT="25400" marB="25400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Inversion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(T925&gt;T2m)</a:t>
                      </a:r>
                    </a:p>
                  </a:txBody>
                  <a:tcPr marL="25400" marR="25400" marT="25400" marB="25400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Dry Day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(precip&lt;1mm)</a:t>
                      </a:r>
                    </a:p>
                  </a:txBody>
                  <a:tcPr marL="25400" marR="25400" marT="25400" marB="25400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ALL 3 Met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(Stagnant)</a:t>
                      </a:r>
                    </a:p>
                  </a:txBody>
                  <a:tcPr marL="25400" marR="25400" marT="25400" marB="25400">
                    <a:solidFill>
                      <a:srgbClr val="A53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50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October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97.0%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4.8%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75.8%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3.8%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50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November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99.0%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30.0%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86.2%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27.7%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50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December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90.9%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58.3%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79.2%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47.8%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50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January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87.7%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41.7%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54.8%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27.4%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50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February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86.1%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463E2D"/>
                          </a:solidFill>
                          <a:latin typeface="Century Gothic"/>
                        </a:rPr>
                        <a:t>33.2%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72.8%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463E2D"/>
                          </a:solidFill>
                          <a:latin typeface="Century Gothic"/>
                        </a:rPr>
                        <a:t>26.5%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9386" y="3560899"/>
            <a:ext cx="10972800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200" b="1" dirty="0">
                <a:solidFill>
                  <a:srgbClr val="766F54"/>
                </a:solidFill>
                <a:latin typeface="Century Gothic"/>
              </a:rPr>
              <a:t>Climatology: Mean India-ASI Stagnant Days per Month (2021–2024 average)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889782"/>
              </p:ext>
            </p:extLst>
          </p:nvPr>
        </p:nvGraphicFramePr>
        <p:xfrm>
          <a:off x="739386" y="3911763"/>
          <a:ext cx="999744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Month</a:t>
                      </a:r>
                    </a:p>
                  </a:txBody>
                  <a:tcPr marL="25400" marR="25400" marT="25400" marB="25400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Oct</a:t>
                      </a:r>
                    </a:p>
                  </a:txBody>
                  <a:tcPr marL="25400" marR="25400" marT="25400" marB="25400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Nov</a:t>
                      </a:r>
                    </a:p>
                  </a:txBody>
                  <a:tcPr marL="25400" marR="25400" marT="25400" marB="25400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Dec</a:t>
                      </a:r>
                    </a:p>
                  </a:txBody>
                  <a:tcPr marL="25400" marR="25400" marT="25400" marB="25400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Jan</a:t>
                      </a:r>
                    </a:p>
                  </a:txBody>
                  <a:tcPr marL="25400" marR="25400" marT="25400" marB="25400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Feb</a:t>
                      </a:r>
                    </a:p>
                  </a:txBody>
                  <a:tcPr marL="25400" marR="25400" marT="25400" marB="25400">
                    <a:solidFill>
                      <a:srgbClr val="A53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Domain Avg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(days)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1.19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8.31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63E2D"/>
                          </a:solidFill>
                          <a:latin typeface="Century Gothic"/>
                        </a:rPr>
                        <a:t>14.81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 dirty="0">
                          <a:solidFill>
                            <a:srgbClr val="463E2D"/>
                          </a:solidFill>
                          <a:latin typeface="Century Gothic"/>
                        </a:rPr>
                        <a:t>8</a:t>
                      </a:r>
                      <a:r>
                        <a:rPr sz="1000" b="0" dirty="0">
                          <a:solidFill>
                            <a:srgbClr val="463E2D"/>
                          </a:solidFill>
                          <a:latin typeface="Century Gothic"/>
                        </a:rPr>
                        <a:t>.50</a:t>
                      </a: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7.50 </a:t>
                      </a:r>
                      <a:endParaRPr sz="600" b="0" dirty="0">
                        <a:solidFill>
                          <a:srgbClr val="463E2D"/>
                        </a:solidFill>
                        <a:latin typeface="Century Gothic"/>
                      </a:endParaRPr>
                    </a:p>
                  </a:txBody>
                  <a:tcPr marL="25400" marR="254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5120640"/>
            <a:ext cx="11582400" cy="1774845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600" b="0" dirty="0">
                <a:solidFill>
                  <a:srgbClr val="463E2D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Key Insights:</a:t>
            </a:r>
          </a:p>
          <a:p>
            <a:pPr algn="l"/>
            <a:r>
              <a:rPr sz="1600" b="0" dirty="0">
                <a:solidFill>
                  <a:srgbClr val="463E2D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October: Nearly zero stagnation — inversions occur only 4.8% of days. Surface is still warm, no lid forms.</a:t>
            </a:r>
          </a:p>
          <a:p>
            <a:pPr algn="l"/>
            <a:r>
              <a:rPr sz="1600" b="0" dirty="0">
                <a:solidFill>
                  <a:srgbClr val="463E2D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December: Peak stagnation (47.8%) — strong inversions (58.3%) + dry conditions (79.2%). Half the month is truly trapped.</a:t>
            </a:r>
          </a:p>
          <a:p>
            <a:pPr algn="l"/>
            <a:r>
              <a:rPr sz="1600" b="0" dirty="0">
                <a:solidFill>
                  <a:srgbClr val="463E2D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January: Drops below December due to Western Disturbance activity bringing rain (only 54.8% dry days).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6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66F54"/>
                </a:solidFill>
                <a:latin typeface="Century Gothic"/>
              </a:rPr>
              <a:t>India-ASI Stagnation Anomaly — October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76072"/>
            <a:ext cx="15483840" cy="32004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lide3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0080"/>
            <a:ext cx="5657483" cy="2606040"/>
          </a:xfrm>
          <a:prstGeom prst="rect">
            <a:avLst/>
          </a:prstGeom>
        </p:spPr>
      </p:pic>
      <p:pic>
        <p:nvPicPr>
          <p:cNvPr id="5" name="Picture 4" descr="slide3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38" y="640080"/>
            <a:ext cx="5596521" cy="2606040"/>
          </a:xfrm>
          <a:prstGeom prst="rect">
            <a:avLst/>
          </a:prstGeom>
        </p:spPr>
      </p:pic>
      <p:pic>
        <p:nvPicPr>
          <p:cNvPr id="6" name="Picture 5" descr="slide3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383280"/>
            <a:ext cx="5490333" cy="2606040"/>
          </a:xfrm>
          <a:prstGeom prst="rect">
            <a:avLst/>
          </a:prstGeom>
        </p:spPr>
      </p:pic>
      <p:pic>
        <p:nvPicPr>
          <p:cNvPr id="7" name="Picture 6" descr="slide3_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0" y="3383280"/>
            <a:ext cx="566928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989320"/>
            <a:ext cx="11460480" cy="697627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400" b="0" dirty="0">
                <a:solidFill>
                  <a:srgbClr val="463E2D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October marks the post-monsoon transition. Inversions are rare (4.8%), so India-ASI stagnation is near zero. Anomalies are small (±1–2 days). Oct 2021 shows a mild negative (better ventilated); Oct 2023 has a slight positive anomaly in south-central Delhi.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6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66F54"/>
                </a:solidFill>
                <a:latin typeface="Century Gothic"/>
              </a:rPr>
              <a:t>India-ASI Stagnation Anomaly — November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76072"/>
            <a:ext cx="15483840" cy="32004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lide4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0080"/>
            <a:ext cx="5549326" cy="2606040"/>
          </a:xfrm>
          <a:prstGeom prst="rect">
            <a:avLst/>
          </a:prstGeom>
        </p:spPr>
      </p:pic>
      <p:pic>
        <p:nvPicPr>
          <p:cNvPr id="5" name="Picture 4" descr="slide4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834" y="640080"/>
            <a:ext cx="5549326" cy="2606040"/>
          </a:xfrm>
          <a:prstGeom prst="rect">
            <a:avLst/>
          </a:prstGeom>
        </p:spPr>
      </p:pic>
      <p:pic>
        <p:nvPicPr>
          <p:cNvPr id="6" name="Picture 5" descr="slide4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383280"/>
            <a:ext cx="5431339" cy="2606040"/>
          </a:xfrm>
          <a:prstGeom prst="rect">
            <a:avLst/>
          </a:prstGeom>
        </p:spPr>
      </p:pic>
      <p:pic>
        <p:nvPicPr>
          <p:cNvPr id="7" name="Picture 6" descr="slide4_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818" y="3383280"/>
            <a:ext cx="5724341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989320"/>
            <a:ext cx="11460480" cy="60529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200" b="0" dirty="0">
                <a:solidFill>
                  <a:srgbClr val="463E2D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November — peak stubble-burning month. Inversions jump to 30%, driving 8+ stagnant days on average. Nov 2021 shows a strong positive anomaly (+6–8 days above normal) — extreme inversion trapping. Nov 2022 also positive. Nov 2023–24 show negative anomalies, indicating better-than-average ventilation.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6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66F54"/>
                </a:solidFill>
                <a:latin typeface="Century Gothic"/>
              </a:rPr>
              <a:t>India-ASI Stagnation Anomaly — December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76072"/>
            <a:ext cx="15483840" cy="32004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lide5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0080"/>
            <a:ext cx="5283855" cy="2606040"/>
          </a:xfrm>
          <a:prstGeom prst="rect">
            <a:avLst/>
          </a:prstGeom>
        </p:spPr>
      </p:pic>
      <p:pic>
        <p:nvPicPr>
          <p:cNvPr id="5" name="Picture 4" descr="slide5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266" y="640080"/>
            <a:ext cx="5222893" cy="2606040"/>
          </a:xfrm>
          <a:prstGeom prst="rect">
            <a:avLst/>
          </a:prstGeom>
        </p:spPr>
      </p:pic>
      <p:pic>
        <p:nvPicPr>
          <p:cNvPr id="6" name="Picture 5" descr="slide5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383280"/>
            <a:ext cx="5509997" cy="2606040"/>
          </a:xfrm>
          <a:prstGeom prst="rect">
            <a:avLst/>
          </a:prstGeom>
        </p:spPr>
      </p:pic>
      <p:pic>
        <p:nvPicPr>
          <p:cNvPr id="7" name="Picture 6" descr="slide5_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5266" y="3383280"/>
            <a:ext cx="5222894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021324"/>
            <a:ext cx="11460480" cy="60529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200" b="0" dirty="0">
                <a:solidFill>
                  <a:srgbClr val="463E2D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December is peak stagnation: ~15 days/month. Dec 2022 shows a strong positive anomaly (more stagnant than avg), contrasting with the wind-only analysis where Dec 2022 was the most ventilated month. This reversal shows the India-ASI captures inversion-driven trapping that wind speed alone misses. Dec 2023 shows negative anomaly in SE Delhi.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6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66F54"/>
                </a:solidFill>
                <a:latin typeface="Century Gothic"/>
              </a:rPr>
              <a:t>India-ASI Stagnation Anomaly — January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76072"/>
            <a:ext cx="15483840" cy="32004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lide6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0080"/>
            <a:ext cx="5195365" cy="2606040"/>
          </a:xfrm>
          <a:prstGeom prst="rect">
            <a:avLst/>
          </a:prstGeom>
        </p:spPr>
      </p:pic>
      <p:pic>
        <p:nvPicPr>
          <p:cNvPr id="5" name="Picture 4" descr="slide6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290" y="640080"/>
            <a:ext cx="5458870" cy="2606040"/>
          </a:xfrm>
          <a:prstGeom prst="rect">
            <a:avLst/>
          </a:prstGeom>
        </p:spPr>
      </p:pic>
      <p:pic>
        <p:nvPicPr>
          <p:cNvPr id="6" name="Picture 5" descr="slide6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351276"/>
            <a:ext cx="5195365" cy="2606040"/>
          </a:xfrm>
          <a:prstGeom prst="rect">
            <a:avLst/>
          </a:prstGeom>
        </p:spPr>
      </p:pic>
      <p:pic>
        <p:nvPicPr>
          <p:cNvPr id="7" name="Picture 6" descr="slide6_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9290" y="3383280"/>
            <a:ext cx="545887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989320"/>
            <a:ext cx="11460480" cy="60529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200" b="0" dirty="0">
                <a:solidFill>
                  <a:srgbClr val="463E2D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January climatology drops to ~</a:t>
            </a:r>
            <a:r>
              <a:rPr lang="en-IN" sz="1200" b="0" dirty="0">
                <a:solidFill>
                  <a:srgbClr val="463E2D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8</a:t>
            </a:r>
            <a:r>
              <a:rPr sz="1200" b="0" dirty="0">
                <a:solidFill>
                  <a:srgbClr val="463E2D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.5 days due to Western Disturbance rainfall (only 54.8% dry days). Jan 2024 shows a strong positive anomaly in western Delhi (+8–11 days) but negative in east — sharp spatial dipole suggesting localized inversion patterns. Jan 2021–22 both negative (well ventilated).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6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66F54"/>
                </a:solidFill>
                <a:latin typeface="Century Gothic"/>
              </a:rPr>
              <a:t>India-ASI Stagnation Anomaly — February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76072"/>
            <a:ext cx="15483840" cy="32004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lide7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0080"/>
            <a:ext cx="5313352" cy="2606040"/>
          </a:xfrm>
          <a:prstGeom prst="rect">
            <a:avLst/>
          </a:prstGeom>
        </p:spPr>
      </p:pic>
      <p:pic>
        <p:nvPicPr>
          <p:cNvPr id="5" name="Picture 4" descr="slide7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626" y="640080"/>
            <a:ext cx="5478534" cy="2606040"/>
          </a:xfrm>
          <a:prstGeom prst="rect">
            <a:avLst/>
          </a:prstGeom>
        </p:spPr>
      </p:pic>
      <p:pic>
        <p:nvPicPr>
          <p:cNvPr id="6" name="Picture 5" descr="slide7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383280"/>
            <a:ext cx="5539495" cy="2606040"/>
          </a:xfrm>
          <a:prstGeom prst="rect">
            <a:avLst/>
          </a:prstGeom>
        </p:spPr>
      </p:pic>
      <p:pic>
        <p:nvPicPr>
          <p:cNvPr id="7" name="Picture 6" descr="slide7_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626" y="3383280"/>
            <a:ext cx="5478534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989320"/>
            <a:ext cx="11460480" cy="60529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/>
            <a:r>
              <a:rPr sz="1200" b="0" dirty="0">
                <a:solidFill>
                  <a:srgbClr val="463E2D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February marks the winter-to-pre-monsoon transition. Inversions weaken (33.2%). Feb 2021 strongly positive in NW Delhi (+3 days); Feb 2023 is the standout with domain-wide positive anomaly (+6–8 days), indicating persistent late-winter stagnation. Feb 2022 and 2024 are negative (better ventilated).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826E"/>
          </a:solidFill>
          <a:ln>
            <a:solidFill>
              <a:srgbClr val="8A8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evron 2"/>
          <p:cNvSpPr/>
          <p:nvPr/>
        </p:nvSpPr>
        <p:spPr>
          <a:xfrm>
            <a:off x="-54864" y="502920"/>
            <a:ext cx="1627632" cy="502920"/>
          </a:xfrm>
          <a:prstGeom prst="chevron">
            <a:avLst/>
          </a:prstGeom>
          <a:solidFill>
            <a:srgbClr val="AD3812"/>
          </a:solidFill>
          <a:ln>
            <a:solidFill>
              <a:srgbClr val="AD38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411480" y="1005840"/>
            <a:ext cx="685800" cy="5303520"/>
          </a:xfrm>
          <a:prstGeom prst="line">
            <a:avLst/>
          </a:prstGeom>
          <a:ln w="12700">
            <a:solidFill>
              <a:srgbClr val="7872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21792" y="1417320"/>
            <a:ext cx="795528" cy="4709160"/>
          </a:xfrm>
          <a:prstGeom prst="line">
            <a:avLst/>
          </a:prstGeom>
          <a:ln w="12700">
            <a:solidFill>
              <a:srgbClr val="AAA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68680" y="777240"/>
            <a:ext cx="960120" cy="3794760"/>
          </a:xfrm>
          <a:prstGeom prst="line">
            <a:avLst/>
          </a:prstGeom>
          <a:ln w="12700">
            <a:solidFill>
              <a:srgbClr val="96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156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>
                <a:solidFill>
                  <a:srgbClr val="2A2A2A"/>
                </a:solidFill>
                <a:latin typeface="Calibri"/>
              </a:rPr>
              <a:t>Validation of India-ASI using CPCB PM₂.₅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804672"/>
            <a:ext cx="9235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A5A5A"/>
                </a:solidFill>
                <a:latin typeface="Calibri"/>
              </a:rPr>
              <a:t>Step 2: Independent calibration against observed pollution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234440"/>
            <a:ext cx="5257800" cy="5349240"/>
          </a:xfrm>
          <a:prstGeom prst="roundRect">
            <a:avLst/>
          </a:prstGeom>
          <a:solidFill>
            <a:srgbClr val="F7F7F0"/>
          </a:solidFill>
          <a:ln>
            <a:solidFill>
              <a:srgbClr val="D9D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72784" y="1174462"/>
            <a:ext cx="4892040" cy="5349240"/>
          </a:xfrm>
          <a:prstGeom prst="roundRect">
            <a:avLst/>
          </a:prstGeom>
          <a:solidFill>
            <a:srgbClr val="F7F7F0"/>
          </a:solidFill>
          <a:ln>
            <a:solidFill>
              <a:srgbClr val="D9D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78992" y="1481328"/>
            <a:ext cx="48006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9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7" y="1554480"/>
            <a:ext cx="4544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D99D9"/>
                </a:solidFill>
              </a:rPr>
              <a:t>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1810512"/>
            <a:ext cx="4471416" cy="10332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2A2A2A"/>
                </a:solidFill>
              </a:defRPr>
            </a:pPr>
            <a:r>
              <a:rPr dirty="0"/>
              <a:t>• Stagnant days = India-ASI TRUE</a:t>
            </a:r>
          </a:p>
          <a:p>
            <a:pPr>
              <a:spcAft>
                <a:spcPts val="200"/>
              </a:spcAft>
              <a:defRPr sz="1250">
                <a:solidFill>
                  <a:srgbClr val="2A2A2A"/>
                </a:solidFill>
              </a:defRPr>
            </a:pPr>
            <a:r>
              <a:rPr dirty="0"/>
              <a:t>• Non-stagnant days = India-ASI FALSE</a:t>
            </a:r>
          </a:p>
          <a:p>
            <a:pPr>
              <a:spcAft>
                <a:spcPts val="200"/>
              </a:spcAft>
              <a:defRPr sz="1250">
                <a:solidFill>
                  <a:srgbClr val="2A2A2A"/>
                </a:solidFill>
              </a:defRPr>
            </a:pPr>
            <a:r>
              <a:rPr dirty="0"/>
              <a:t>• Compared network-average daily PM₂.₅ (26 stations, Oct–Feb, 2021–2024)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024107"/>
            <a:ext cx="4800600" cy="12984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E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07007" y="3127248"/>
            <a:ext cx="4544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E503C"/>
                </a:solidFill>
              </a:rPr>
              <a:t>Key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3383279"/>
            <a:ext cx="4471416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2A2A2A"/>
                </a:solidFill>
              </a:defRPr>
            </a:pPr>
            <a:r>
              <a:t>• Stagnant: 259 µg/m³</a:t>
            </a:r>
          </a:p>
          <a:p>
            <a:pPr>
              <a:spcAft>
                <a:spcPts val="200"/>
              </a:spcAft>
              <a:defRPr sz="1250">
                <a:solidFill>
                  <a:srgbClr val="2A2A2A"/>
                </a:solidFill>
              </a:defRPr>
            </a:pPr>
            <a:r>
              <a:t>• Non-stagnant: 211 µg/m³</a:t>
            </a:r>
          </a:p>
          <a:p>
            <a:pPr>
              <a:spcAft>
                <a:spcPts val="200"/>
              </a:spcAft>
              <a:defRPr sz="1250">
                <a:solidFill>
                  <a:srgbClr val="2A2A2A"/>
                </a:solidFill>
              </a:defRPr>
            </a:pPr>
            <a:r>
              <a:t>• Difference: +48.7 µg/m³ (~23% higher)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4517136"/>
            <a:ext cx="4800600" cy="14447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C6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07007" y="4590288"/>
            <a:ext cx="4544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C6E3C"/>
                </a:solidFill>
              </a:rPr>
              <a:t>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4846320"/>
            <a:ext cx="4471416" cy="10607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2A2A2A"/>
                </a:solidFill>
              </a:defRPr>
            </a:pPr>
            <a:r>
              <a:rPr dirty="0"/>
              <a:t>• PM₂.₅ shifts upward on stagnant days</a:t>
            </a:r>
          </a:p>
          <a:p>
            <a:pPr>
              <a:spcAft>
                <a:spcPts val="200"/>
              </a:spcAft>
              <a:defRPr sz="1250">
                <a:solidFill>
                  <a:srgbClr val="2A2A2A"/>
                </a:solidFill>
              </a:defRPr>
            </a:pPr>
            <a:r>
              <a:rPr dirty="0"/>
              <a:t>• Distribution becomes wider with more extremes</a:t>
            </a:r>
          </a:p>
          <a:p>
            <a:pPr>
              <a:spcAft>
                <a:spcPts val="200"/>
              </a:spcAft>
              <a:defRPr sz="1250">
                <a:solidFill>
                  <a:srgbClr val="2A2A2A"/>
                </a:solidFill>
              </a:defRPr>
            </a:pPr>
            <a:r>
              <a:rPr dirty="0"/>
              <a:t>• Strong signal of pollutant trapping under weak dispersion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125535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1" dirty="0">
                <a:solidFill>
                  <a:srgbClr val="2A2A2A"/>
                </a:solidFill>
              </a:rPr>
              <a:t>Box plot summary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20840" y="3611880"/>
            <a:ext cx="41148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52360" y="1965960"/>
            <a:ext cx="0" cy="1280160"/>
          </a:xfrm>
          <a:prstGeom prst="line">
            <a:avLst/>
          </a:prstGeom>
          <a:ln w="25400">
            <a:solidFill>
              <a:srgbClr val="3D9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50608" y="2825496"/>
            <a:ext cx="566928" cy="0"/>
          </a:xfrm>
          <a:prstGeom prst="line">
            <a:avLst/>
          </a:prstGeom>
          <a:ln w="25400">
            <a:solidFill>
              <a:srgbClr val="3D9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388352" y="1828800"/>
            <a:ext cx="91440" cy="91440"/>
          </a:xfrm>
          <a:prstGeom prst="ellipse">
            <a:avLst/>
          </a:prstGeom>
          <a:solidFill>
            <a:srgbClr val="FFFFFF"/>
          </a:solidFill>
          <a:ln>
            <a:solidFill>
              <a:srgbClr val="3D9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88352" y="2057400"/>
            <a:ext cx="91440" cy="91440"/>
          </a:xfrm>
          <a:prstGeom prst="ellipse">
            <a:avLst/>
          </a:prstGeom>
          <a:solidFill>
            <a:srgbClr val="FFFFFF"/>
          </a:solidFill>
          <a:ln>
            <a:solidFill>
              <a:srgbClr val="3D9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88352" y="2240280"/>
            <a:ext cx="91440" cy="91440"/>
          </a:xfrm>
          <a:prstGeom prst="ellipse">
            <a:avLst/>
          </a:prstGeom>
          <a:solidFill>
            <a:srgbClr val="FFFFFF"/>
          </a:solidFill>
          <a:ln>
            <a:solidFill>
              <a:srgbClr val="3D9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388352" y="1691640"/>
            <a:ext cx="91440" cy="91440"/>
          </a:xfrm>
          <a:prstGeom prst="ellipse">
            <a:avLst/>
          </a:prstGeom>
          <a:solidFill>
            <a:srgbClr val="FFFFFF"/>
          </a:solidFill>
          <a:ln>
            <a:solidFill>
              <a:srgbClr val="3D9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>
            <a:off x="9921240" y="1828800"/>
            <a:ext cx="0" cy="1600200"/>
          </a:xfrm>
          <a:prstGeom prst="line">
            <a:avLst/>
          </a:prstGeom>
          <a:ln w="25400">
            <a:solidFill>
              <a:srgbClr val="DE5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601200" y="2304288"/>
            <a:ext cx="640080" cy="749808"/>
          </a:xfrm>
          <a:prstGeom prst="rect">
            <a:avLst/>
          </a:prstGeom>
          <a:solidFill>
            <a:srgbClr val="E6968C"/>
          </a:solidFill>
          <a:ln>
            <a:solidFill>
              <a:srgbClr val="DE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9601200" y="2679192"/>
            <a:ext cx="640080" cy="0"/>
          </a:xfrm>
          <a:prstGeom prst="line">
            <a:avLst/>
          </a:prstGeom>
          <a:ln w="25400">
            <a:solidFill>
              <a:srgbClr val="DE5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857232" y="1664208"/>
            <a:ext cx="91440" cy="91440"/>
          </a:xfrm>
          <a:prstGeom prst="ellipse">
            <a:avLst/>
          </a:prstGeom>
          <a:solidFill>
            <a:srgbClr val="FFFFFF"/>
          </a:solidFill>
          <a:ln>
            <a:solidFill>
              <a:srgbClr val="DE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857232" y="1810512"/>
            <a:ext cx="91440" cy="91440"/>
          </a:xfrm>
          <a:prstGeom prst="ellipse">
            <a:avLst/>
          </a:prstGeom>
          <a:solidFill>
            <a:srgbClr val="FFFFFF"/>
          </a:solidFill>
          <a:ln>
            <a:solidFill>
              <a:srgbClr val="DE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86600" y="3657600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3D99D9"/>
                </a:solidFill>
              </a:rPr>
              <a:t>Non-Stagnant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657600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DE503C"/>
                </a:solidFill>
              </a:rPr>
              <a:t>Stagnant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977639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D99D9"/>
                </a:solidFill>
              </a:rPr>
              <a:t>Mean: 211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3977639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E503C"/>
                </a:solidFill>
              </a:rPr>
              <a:t>Mean: 259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65392" y="4251960"/>
            <a:ext cx="455371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0840" y="4370832"/>
            <a:ext cx="4206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50" b="1" dirty="0">
                <a:solidFill>
                  <a:srgbClr val="2A2A2A"/>
                </a:solidFill>
              </a:rPr>
              <a:t>t-test: p = 2.25 × 10⁻⁸</a:t>
            </a:r>
          </a:p>
          <a:p>
            <a:r>
              <a:rPr sz="1150" dirty="0">
                <a:solidFill>
                  <a:srgbClr val="5A5A5A"/>
                </a:solidFill>
              </a:rPr>
              <a:t>The difference in mean PM₂.₅ is highly significant, not random.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65392" y="5321808"/>
            <a:ext cx="4553712" cy="868680"/>
          </a:xfrm>
          <a:prstGeom prst="roundRect">
            <a:avLst/>
          </a:prstGeom>
          <a:solidFill>
            <a:srgbClr val="FFFAF0"/>
          </a:solidFill>
          <a:ln>
            <a:solidFill>
              <a:srgbClr val="DC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20840" y="5413248"/>
            <a:ext cx="4206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dirty="0">
                <a:solidFill>
                  <a:srgbClr val="785A28"/>
                </a:solidFill>
              </a:rPr>
              <a:t>What the t-test answers:</a:t>
            </a:r>
          </a:p>
          <a:p>
            <a:r>
              <a:rPr sz="1200" i="1" dirty="0">
                <a:solidFill>
                  <a:srgbClr val="2A2A2A"/>
                </a:solidFill>
              </a:rPr>
              <a:t>“Could this PM₂.₅ gap happen by chance?”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619963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>
                <a:solidFill>
                  <a:srgbClr val="5A5A5A"/>
                </a:solidFill>
              </a:rPr>
              <a:t>Conclusion: India-ASI stagnant days consistently correspond to higher CPCB PM₂.₅.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D74CB9E-8AF4-4A1D-8637-8E5E33E8E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595628"/>
            <a:ext cx="4553712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685800"/>
            <a:ext cx="411480" cy="5029200"/>
          </a:xfrm>
          <a:prstGeom prst="arc">
            <a:avLst/>
          </a:prstGeom>
          <a:solidFill>
            <a:srgbClr val="E3E8CC">
              <a:alpha val="0"/>
            </a:srgbClr>
          </a:solidFill>
          <a:ln w="10160">
            <a:solidFill>
              <a:srgbClr val="B9B08A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502920"/>
            <a:ext cx="594360" cy="5486400"/>
          </a:xfrm>
          <a:prstGeom prst="arc">
            <a:avLst/>
          </a:prstGeom>
          <a:solidFill>
            <a:srgbClr val="E3E8CC">
              <a:alpha val="0"/>
            </a:srgbClr>
          </a:solidFill>
          <a:ln w="10160">
            <a:solidFill>
              <a:srgbClr val="B9B08A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320040"/>
            <a:ext cx="731520" cy="5715000"/>
          </a:xfrm>
          <a:prstGeom prst="arc">
            <a:avLst/>
          </a:prstGeom>
          <a:solidFill>
            <a:srgbClr val="E3E8CC">
              <a:alpha val="0"/>
            </a:srgbClr>
          </a:solidFill>
          <a:ln w="10160">
            <a:solidFill>
              <a:srgbClr val="B9B08A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64592"/>
            <a:ext cx="731520" cy="5760720"/>
          </a:xfrm>
          <a:prstGeom prst="arc">
            <a:avLst/>
          </a:prstGeom>
          <a:solidFill>
            <a:srgbClr val="E3E8CC">
              <a:alpha val="0"/>
            </a:srgbClr>
          </a:solidFill>
          <a:ln w="10160">
            <a:solidFill>
              <a:srgbClr val="B9B08A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969264"/>
            <a:ext cx="502920" cy="237744"/>
          </a:xfrm>
          <a:prstGeom prst="chevron">
            <a:avLst/>
          </a:prstGeom>
          <a:solidFill>
            <a:srgbClr val="A63E17"/>
          </a:solidFill>
          <a:ln w="12700">
            <a:solidFill>
              <a:srgbClr val="A63E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850392"/>
            <a:ext cx="11292840" cy="0"/>
          </a:xfrm>
          <a:prstGeom prst="line">
            <a:avLst/>
          </a:prstGeom>
          <a:noFill/>
          <a:ln w="13970">
            <a:solidFill>
              <a:srgbClr val="7F6B3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6459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4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Month-by-Month Interpretation of the Stagnant vs Non-Stagnant PM₂.₅ Plot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5488" y="585216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important point is not only that stagnation matters, but that it matters differently in each month.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1078992"/>
            <a:ext cx="3977640" cy="5440680"/>
          </a:xfrm>
          <a:prstGeom prst="roundRect">
            <a:avLst>
              <a:gd name="adj" fmla="val 1149"/>
            </a:avLst>
          </a:prstGeom>
          <a:solidFill>
            <a:srgbClr val="F8F8F1"/>
          </a:solidFill>
          <a:ln w="12700">
            <a:solidFill>
              <a:srgbClr val="C9C1A7"/>
            </a:solidFill>
            <a:prstDash val="solid"/>
          </a:ln>
        </p:spPr>
      </p:sp>
      <p:pic>
        <p:nvPicPr>
          <p:cNvPr id="11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897626"/>
            <a:ext cx="3968496" cy="334188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45152" y="1078992"/>
            <a:ext cx="7059168" cy="5440680"/>
          </a:xfrm>
          <a:prstGeom prst="roundRect">
            <a:avLst>
              <a:gd name="adj" fmla="val 840"/>
            </a:avLst>
          </a:prstGeom>
          <a:solidFill>
            <a:srgbClr val="EFECD9"/>
          </a:solidFill>
          <a:ln w="12700">
            <a:solidFill>
              <a:srgbClr val="C9C1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82896" y="12252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2416"/>
                </a:solidFill>
              </a:rPr>
              <a:t>What each month tells us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882896" y="1453896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2A2A"/>
                </a:solidFill>
              </a:rPr>
              <a:t>The bars compare average PM₂.₅ on stagnant and non-stagnant days. The gap between the bars tells us whether meteorological trapping is stronger than the emission signal in that month.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4882896" y="2057400"/>
            <a:ext cx="6309360" cy="713232"/>
          </a:xfrm>
          <a:prstGeom prst="roundRect">
            <a:avLst>
              <a:gd name="adj" fmla="val 5128"/>
            </a:avLst>
          </a:prstGeom>
          <a:solidFill>
            <a:srgbClr val="F6F3E7"/>
          </a:solidFill>
          <a:ln w="10160">
            <a:solidFill>
              <a:srgbClr val="D1C7AF"/>
            </a:solidFill>
            <a:prstDash val="solid"/>
          </a:ln>
          <a:effectLst>
            <a:outerShdw blurRad="12700" dist="6350" dir="2700000" algn="bl" rotWithShape="0">
              <a:srgbClr val="7A6E57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92624" y="21305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63E17"/>
                </a:solidFill>
              </a:rPr>
              <a:t>October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797296" y="2112264"/>
            <a:ext cx="5285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A2A2A"/>
                </a:solidFill>
              </a:rPr>
              <a:t>~+2%: almost no difference. Stagnation has little power because the transition from monsoon to winter has just begun, so very few stagnant days exist.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4882896" y="2834640"/>
            <a:ext cx="6309360" cy="713232"/>
          </a:xfrm>
          <a:prstGeom prst="roundRect">
            <a:avLst>
              <a:gd name="adj" fmla="val 5128"/>
            </a:avLst>
          </a:prstGeom>
          <a:solidFill>
            <a:srgbClr val="FBF0E5"/>
          </a:solidFill>
          <a:ln w="10160">
            <a:solidFill>
              <a:srgbClr val="D1C7AF"/>
            </a:solidFill>
            <a:prstDash val="solid"/>
          </a:ln>
          <a:effectLst>
            <a:outerShdw blurRad="12700" dist="6350" dir="2700000" algn="bl" rotWithShape="0">
              <a:srgbClr val="7A6E57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992624" y="29077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63E17"/>
                </a:solidFill>
              </a:rPr>
              <a:t>November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797296" y="2889504"/>
            <a:ext cx="5285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A2A2A"/>
                </a:solidFill>
              </a:rPr>
              <a:t>−7%: the unusual month. Pollution is dominated by stubble-burning emissions, so even non-stagnant days remain very polluted. This is why the red bar is not higher here.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4882896" y="3611880"/>
            <a:ext cx="6309360" cy="713232"/>
          </a:xfrm>
          <a:prstGeom prst="roundRect">
            <a:avLst>
              <a:gd name="adj" fmla="val 5128"/>
            </a:avLst>
          </a:prstGeom>
          <a:solidFill>
            <a:srgbClr val="F6F3E7"/>
          </a:solidFill>
          <a:ln w="10160">
            <a:solidFill>
              <a:srgbClr val="D1C7AF"/>
            </a:solidFill>
            <a:prstDash val="solid"/>
          </a:ln>
          <a:effectLst>
            <a:outerShdw blurRad="12700" dist="6350" dir="2700000" algn="bl" rotWithShape="0">
              <a:srgbClr val="7A6E57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992624" y="3685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63E17"/>
                </a:solidFill>
              </a:rPr>
              <a:t>December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797296" y="3666744"/>
            <a:ext cx="5285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A2A2A"/>
                </a:solidFill>
              </a:rPr>
              <a:t>+19%: the stagnation signal becomes clear. Calm winds, weaker mixing, and dry conditions begin to trap pollutants and push the red bar above the blue bar.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4882896" y="4389120"/>
            <a:ext cx="6309360" cy="713232"/>
          </a:xfrm>
          <a:prstGeom prst="roundRect">
            <a:avLst>
              <a:gd name="adj" fmla="val 5128"/>
            </a:avLst>
          </a:prstGeom>
          <a:solidFill>
            <a:srgbClr val="FBF0E5"/>
          </a:solidFill>
          <a:ln w="10160">
            <a:solidFill>
              <a:srgbClr val="D1C7AF"/>
            </a:solidFill>
            <a:prstDash val="solid"/>
          </a:ln>
          <a:effectLst>
            <a:outerShdw blurRad="12700" dist="6350" dir="2700000" algn="bl" rotWithShape="0">
              <a:srgbClr val="7A6E57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992624" y="44622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63E17"/>
                </a:solidFill>
              </a:rPr>
              <a:t>January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797296" y="4443984"/>
            <a:ext cx="5285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A2A2A"/>
                </a:solidFill>
              </a:rPr>
              <a:t>+30%: the strongest effect. Winter inversions and shallow boundary layers are most intense, so stagnant days accumulate much more PM₂.₅ than non-stagnant days.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4882896" y="5166360"/>
            <a:ext cx="6309360" cy="713232"/>
          </a:xfrm>
          <a:prstGeom prst="roundRect">
            <a:avLst>
              <a:gd name="adj" fmla="val 5128"/>
            </a:avLst>
          </a:prstGeom>
          <a:solidFill>
            <a:srgbClr val="F6F3E7"/>
          </a:solidFill>
          <a:ln w="10160">
            <a:solidFill>
              <a:srgbClr val="D1C7AF"/>
            </a:solidFill>
            <a:prstDash val="solid"/>
          </a:ln>
          <a:effectLst>
            <a:outerShdw blurRad="12700" dist="6350" dir="2700000" algn="bl" rotWithShape="0">
              <a:srgbClr val="7A6E57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992624" y="52395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63E17"/>
                </a:solidFill>
              </a:rPr>
              <a:t>February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797296" y="5221224"/>
            <a:ext cx="5285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A2A2A"/>
                </a:solidFill>
              </a:rPr>
              <a:t>+10%: a weaker but still visible effect. Winter is relaxing, ventilation slowly improves, and the stagnation penalty remains moderate rather than extreme.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4960964" y="5943600"/>
            <a:ext cx="6309360" cy="384048"/>
          </a:xfrm>
          <a:prstGeom prst="roundRect">
            <a:avLst>
              <a:gd name="adj" fmla="val 9524"/>
            </a:avLst>
          </a:prstGeom>
          <a:solidFill>
            <a:srgbClr val="D9E4BC"/>
          </a:solidFill>
          <a:ln w="10160">
            <a:solidFill>
              <a:srgbClr val="B9C89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Text 28"/>
          <p:cNvSpPr/>
          <p:nvPr/>
        </p:nvSpPr>
        <p:spPr>
          <a:xfrm>
            <a:off x="5065776" y="6035040"/>
            <a:ext cx="5897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2F2416"/>
                </a:solidFill>
                <a:latin typeface="Bahnschrift Light" panose="020B0502040204020203" pitchFamily="34" charset="0"/>
              </a:rPr>
              <a:t>Conclusion: stagnation is a strong PM₂.₅ amplifier in December–January, while November is controlled mainly by emissions rather than dispersion</a:t>
            </a:r>
            <a:r>
              <a:rPr lang="en-US" sz="1110" b="1" dirty="0">
                <a:solidFill>
                  <a:srgbClr val="2F2416"/>
                </a:solidFill>
              </a:rPr>
              <a:t>.</a:t>
            </a:r>
            <a:endParaRPr lang="en-US" sz="11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3434</TotalTime>
  <Words>4127</Words>
  <Application>Microsoft Office PowerPoint</Application>
  <PresentationFormat>Widescreen</PresentationFormat>
  <Paragraphs>388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8" baseType="lpstr">
      <vt:lpstr>Arial Unicode MS</vt:lpstr>
      <vt:lpstr>Aptos</vt:lpstr>
      <vt:lpstr>Aptos Display</vt:lpstr>
      <vt:lpstr>Aptos Narrow</vt:lpstr>
      <vt:lpstr>Arial</vt:lpstr>
      <vt:lpstr>Bahnschrift Light</vt:lpstr>
      <vt:lpstr>Calibri</vt:lpstr>
      <vt:lpstr>Cascadia Code SemiBold</vt:lpstr>
      <vt:lpstr>Cascadia Mono SemiBold</vt:lpstr>
      <vt:lpstr>Century Gothic</vt:lpstr>
      <vt:lpstr>Consolas</vt:lpstr>
      <vt:lpstr>Google Sans Text</vt:lpstr>
      <vt:lpstr>Wingdings</vt:lpstr>
      <vt:lpstr>Wingdings 3</vt:lpstr>
      <vt:lpstr>Wisp</vt:lpstr>
      <vt:lpstr>Spatiotemporal Analysis of PM2.5 and Meteorological Parameters (2021–2024)</vt:lpstr>
      <vt:lpstr>Project Overview &amp; Data Source</vt:lpstr>
      <vt:lpstr>Task 1 – Robust Data Organization</vt:lpstr>
      <vt:lpstr>Task 2 – Station Selection Criteria</vt:lpstr>
      <vt:lpstr>Task 3 – Column Standardization</vt:lpstr>
      <vt:lpstr>Task 4 – Temporal Gap Filling</vt:lpstr>
      <vt:lpstr>Comparison Analysis (Before vs. After)</vt:lpstr>
      <vt:lpstr>Conclusion &amp; Next Steps</vt:lpstr>
      <vt:lpstr>Week 3: Seasonal and Monthly Analysis of PM₂.₅ (2021–2024)</vt:lpstr>
      <vt:lpstr>Seasonal Classification Methodology</vt:lpstr>
      <vt:lpstr>PM₂.₅ Aggregation Strategy</vt:lpstr>
      <vt:lpstr>Seasonal Average PM₂.₅ (Network Mean)</vt:lpstr>
      <vt:lpstr>Monthly Average PM₂.₅ (Network Mean, 2021–2024)</vt:lpstr>
      <vt:lpstr>Month-wise PM₂.₅ Behavior</vt:lpstr>
      <vt:lpstr>Diurnal Heartbeat of Delhi’s PM₂.₅ Understanding the Daily Cycle: Rush Hours vs. Atmospheric Physics</vt:lpstr>
      <vt:lpstr>Seasonal Variability &amp; Boundary Layer Severity Seasonal Contrast: Why Winter and Post-Monsoon Skyrocket </vt:lpstr>
      <vt:lpstr>Summary of Findings  Physical Interpretations &amp; Statistical Summary </vt:lpstr>
      <vt:lpstr>Week 3 Conclusion &amp; Week 4 Outlook</vt:lpstr>
      <vt:lpstr>Week 4 – Meteorological Conditioning &amp; Transport Diagnostics</vt:lpstr>
      <vt:lpstr>Regional Classification of Stations</vt:lpstr>
      <vt:lpstr>Ventilation Suppression During Extreme Events</vt:lpstr>
      <vt:lpstr>Week 4 Mechanism Synthesis</vt:lpstr>
      <vt:lpstr>PDF-based Transport Diagnostics of Extreme PM₂.₅ (DJF 2021–2024)  Regional analysis for Delhi: North, East, South_Central, West_SW</vt:lpstr>
      <vt:lpstr>Year 2021</vt:lpstr>
      <vt:lpstr>Year 2022</vt:lpstr>
      <vt:lpstr>Year 2023</vt:lpstr>
      <vt:lpstr>Year 2024</vt:lpstr>
      <vt:lpstr>Overall takeaways</vt:lpstr>
      <vt:lpstr>Directional Enrichment plots (Enrichment = fraction of wind directions observed during extreme hours ÷ fraction in the background; values &gt;1 indicate a sector is over-represented during extremes.)</vt:lpstr>
      <vt:lpstr>NORTH REGION</vt:lpstr>
      <vt:lpstr>SOUTH_CENTRAL REGION</vt:lpstr>
      <vt:lpstr>WEST_SW REGION</vt:lpstr>
      <vt:lpstr>OVERALL ENRICHMENT TAKEAWAYS</vt:lpstr>
      <vt:lpstr>Mechanistic interpretation (transport vs ventilation)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Archie Mittal</dc:creator>
  <cp:lastModifiedBy>yashwardhan.choudhary0024@outlook.com</cp:lastModifiedBy>
  <cp:revision>7</cp:revision>
  <dcterms:created xsi:type="dcterms:W3CDTF">2026-01-22T19:53:34Z</dcterms:created>
  <dcterms:modified xsi:type="dcterms:W3CDTF">2026-04-03T08:18:50Z</dcterms:modified>
</cp:coreProperties>
</file>